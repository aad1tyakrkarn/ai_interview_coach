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SHOWCASE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Sarah.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2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interview coach that listens, watches, and helps you grow.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13716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611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voice-first mock interview platform — built end to end.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Vivek  ·  Project Evaluation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004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practicing interviews is still hard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840480" cy="3291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know what I sound like in an interview.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only find out what I did wrong after I've failed.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343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student before placement season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0352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 human mocks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coaches cost thousands per hour.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0352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body-language feedback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Text-based tools can't see you.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3246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0352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Generic questions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don't read your resume.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3977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0352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 feedback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4251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 mistakes only after rejection.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27432"/>
          </a:xfrm>
          <a:prstGeom prst="rect">
            <a:avLst/>
          </a:prstGeom>
          <a:solidFill>
            <a:srgbClr val="BCE5E8"/>
          </a:solidFill>
          <a:ln w="12700">
            <a:solidFill>
              <a:srgbClr val="BCE5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Platform · Product Overview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965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004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is this for?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personas we designed for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64592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Aditi · Final year student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45920" y="2971800"/>
            <a:ext cx="36576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108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 practice for campus placements but can't afford a coach.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Practice mode daily for 30 minutes.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164592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52044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Rahul · Working professional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2971800"/>
            <a:ext cx="36576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3108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for a senior role switch. Has only 30 min after work.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Mock mode for realistic pressure.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69480" y="164592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44652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Priya · Career returner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98080" y="2971800"/>
            <a:ext cx="36576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108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after a break. Nervous about speaking confidently.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coaching panel to fix filler words and posture.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27432"/>
          </a:xfrm>
          <a:prstGeom prst="rect">
            <a:avLst/>
          </a:prstGeom>
          <a:solidFill>
            <a:srgbClr val="BCE5E8"/>
          </a:solidFill>
          <a:ln w="12700">
            <a:solidFill>
              <a:srgbClr val="BCE5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Platform · Product Overview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12480" y="4965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004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Modes, One Sarah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AI coach, very different experiences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40233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36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&amp; LEARN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coaching mode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coaching panel — eye contact, WPM, filler words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898648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pauses and retries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310128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available on demand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21608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is encouraging and explains things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133088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pressure — focus on learning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4023360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417320"/>
            <a:ext cx="402336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536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42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MOCK INTERVIEW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the real thing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487168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coaching — Sarah evaluates silently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898648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time limit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310128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hints, no skipping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721608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scorecard + report at the end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4133088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review page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937760"/>
            <a:ext cx="9144000" cy="27432"/>
          </a:xfrm>
          <a:prstGeom prst="rect">
            <a:avLst/>
          </a:prstGeom>
          <a:solidFill>
            <a:srgbClr val="BCE5E8"/>
          </a:solidFill>
          <a:ln w="12700">
            <a:solidFill>
              <a:srgbClr val="BCE5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Platform · Product Overview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12480" y="4965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004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Journey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signup to report — in one sitting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57400" y="2514600"/>
            <a:ext cx="182880" cy="36576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868680" cy="8686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103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" y="3108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 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3429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OTP verification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2514600"/>
            <a:ext cx="182880" cy="36576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0280" y="2103120"/>
            <a:ext cx="868680" cy="8686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40280" y="2103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965960" y="3108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resume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429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extracts skills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23560" y="2514600"/>
            <a:ext cx="182880" cy="36576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2103120"/>
            <a:ext cx="868680" cy="8686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23360" y="2103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749040" y="3108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mode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3429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or Mock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06640" y="2514600"/>
            <a:ext cx="182880" cy="36576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06440" y="2103120"/>
            <a:ext cx="868680" cy="8686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6440" y="2103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532120" y="3108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interview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3429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Sarah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89520" y="2103120"/>
            <a:ext cx="868680" cy="8686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89520" y="2103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315200" y="3108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report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0" y="3429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+ review transcript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2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time: around 20 minutes from signup to scored report.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0" y="4937760"/>
            <a:ext cx="9144000" cy="27432"/>
          </a:xfrm>
          <a:prstGeom prst="rect">
            <a:avLst/>
          </a:prstGeom>
          <a:solidFill>
            <a:srgbClr val="BCE5E8"/>
          </a:solidFill>
          <a:ln w="12700">
            <a:solidFill>
              <a:srgbClr val="BCE5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Platform · Product Overview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12480" y="4965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004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feel like a real interview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CE5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9164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♪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1737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Voice-first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057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naturally, no typing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CE5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69164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■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297680" y="1737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camera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2057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posture and eye contact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CE5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69164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◆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132320" y="1737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questions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2057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your resume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CE5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29184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46304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coaching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36576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while you talk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30175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CE5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20440" y="329184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▲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29768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scoring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297680" y="36576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weighted categories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30175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CE5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329184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13232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report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132320" y="36576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transcript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9144000" cy="27432"/>
          </a:xfrm>
          <a:prstGeom prst="rect">
            <a:avLst/>
          </a:prstGeom>
          <a:solidFill>
            <a:srgbClr val="BCE5E8"/>
          </a:solidFill>
          <a:ln w="12700">
            <a:solidFill>
              <a:srgbClr val="BCE5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Platform · Product Overview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12480" y="4965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004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are we different?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beat existing tools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1945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1417320"/>
            <a:ext cx="30175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 tools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417320"/>
            <a:ext cx="30175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platform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CE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29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mode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19202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CE5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text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1920240"/>
            <a:ext cx="3017520" cy="457200"/>
          </a:xfrm>
          <a:prstGeom prst="rect">
            <a:avLst/>
          </a:prstGeom>
          <a:solidFill>
            <a:srgbClr val="FFF7ED"/>
          </a:solidFill>
          <a:ln w="6350">
            <a:solidFill>
              <a:srgbClr val="BCE5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1920240"/>
            <a:ext cx="73152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(speak naturally)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CE5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532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Camera feedback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51760" y="242316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CE5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2532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2423160"/>
            <a:ext cx="3017520" cy="457200"/>
          </a:xfrm>
          <a:prstGeom prst="rect">
            <a:avLst/>
          </a:prstGeom>
          <a:solidFill>
            <a:srgbClr val="FFF7ED"/>
          </a:solidFill>
          <a:ln w="6350">
            <a:solidFill>
              <a:srgbClr val="BCE5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2423160"/>
            <a:ext cx="73152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2532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contact + posture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CE5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035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51760" y="292608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CE5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list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0" y="2926080"/>
            <a:ext cx="3017520" cy="457200"/>
          </a:xfrm>
          <a:prstGeom prst="rect">
            <a:avLst/>
          </a:prstGeom>
          <a:solidFill>
            <a:srgbClr val="FFF7ED"/>
          </a:solidFill>
          <a:ln w="6350">
            <a:solidFill>
              <a:srgbClr val="BCE5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0" y="2926080"/>
            <a:ext cx="73152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Resume-aware, dynamic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42900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CE5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538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Coaching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651760" y="342900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CE5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88920" y="3538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fact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9280" y="3429000"/>
            <a:ext cx="3017520" cy="457200"/>
          </a:xfrm>
          <a:prstGeom prst="rect">
            <a:avLst/>
          </a:prstGeom>
          <a:solidFill>
            <a:srgbClr val="FFF7ED"/>
          </a:solidFill>
          <a:ln w="6350">
            <a:solidFill>
              <a:srgbClr val="BCE5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0" y="3429000"/>
            <a:ext cx="73152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06440" y="3538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during answer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393192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CE5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041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651760" y="393192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CE5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88920" y="4041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size fits all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669280" y="3931920"/>
            <a:ext cx="3017520" cy="457200"/>
          </a:xfrm>
          <a:prstGeom prst="rect">
            <a:avLst/>
          </a:prstGeom>
          <a:solidFill>
            <a:srgbClr val="FFF7ED"/>
          </a:solidFill>
          <a:ln w="6350">
            <a:solidFill>
              <a:srgbClr val="BCE5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69280" y="3931920"/>
            <a:ext cx="73152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06440" y="4041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and Mock separate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4937760"/>
            <a:ext cx="9144000" cy="27432"/>
          </a:xfrm>
          <a:prstGeom prst="rect">
            <a:avLst/>
          </a:prstGeom>
          <a:solidFill>
            <a:srgbClr val="BCE5E8"/>
          </a:solidFill>
          <a:ln w="12700">
            <a:solidFill>
              <a:srgbClr val="BCE5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Platform · Product Overview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412480" y="4965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004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the 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screens — built and working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74320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solidFill>
            <a:srgbClr val="F3FA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087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5087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920240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45920" y="1920240"/>
            <a:ext cx="320040" cy="320040"/>
          </a:xfrm>
          <a:prstGeom prst="ellipse">
            <a:avLst/>
          </a:prstGeom>
          <a:solidFill>
            <a:srgbClr val="BCE5E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1920240"/>
            <a:ext cx="320040" cy="320040"/>
          </a:xfrm>
          <a:prstGeom prst="ellipse">
            <a:avLst/>
          </a:prstGeom>
          <a:solidFill>
            <a:srgbClr val="BCE5E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514600"/>
            <a:ext cx="2194560" cy="182880"/>
          </a:xfrm>
          <a:prstGeom prst="rect">
            <a:avLst/>
          </a:prstGeom>
          <a:solidFill>
            <a:srgbClr val="E5F4F6"/>
          </a:solidFill>
          <a:ln w="12700">
            <a:solidFill>
              <a:srgbClr val="E5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834640"/>
            <a:ext cx="2194560" cy="182880"/>
          </a:xfrm>
          <a:prstGeom prst="rect">
            <a:avLst/>
          </a:prstGeom>
          <a:solidFill>
            <a:srgbClr val="E5F4F6"/>
          </a:solidFill>
          <a:ln w="12700">
            <a:solidFill>
              <a:srgbClr val="E5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154680"/>
            <a:ext cx="2194560" cy="182880"/>
          </a:xfrm>
          <a:prstGeom prst="rect">
            <a:avLst/>
          </a:prstGeom>
          <a:solidFill>
            <a:srgbClr val="E5F4F6"/>
          </a:solidFill>
          <a:ln w="12700">
            <a:solidFill>
              <a:srgbClr val="E5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474720"/>
            <a:ext cx="2194560" cy="182880"/>
          </a:xfrm>
          <a:prstGeom prst="rect">
            <a:avLst/>
          </a:prstGeom>
          <a:solidFill>
            <a:srgbClr val="E5F4F6"/>
          </a:solidFill>
          <a:ln w="12700">
            <a:solidFill>
              <a:srgbClr val="E5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114800"/>
            <a:ext cx="219456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14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2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280160" y="4773168"/>
            <a:ext cx="109728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&amp; Consent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1417320"/>
            <a:ext cx="274320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1417320"/>
            <a:ext cx="2743200" cy="274320"/>
          </a:xfrm>
          <a:prstGeom prst="rect">
            <a:avLst/>
          </a:prstGeom>
          <a:solidFill>
            <a:srgbClr val="F3FA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47288" y="15087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11880" y="15087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76472" y="15087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0440" y="1828800"/>
            <a:ext cx="100584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18288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17720" y="1828800"/>
            <a:ext cx="1280160" cy="320040"/>
          </a:xfrm>
          <a:prstGeom prst="rect">
            <a:avLst/>
          </a:prstGeom>
          <a:solidFill>
            <a:srgbClr val="E5F4F6"/>
          </a:solidFill>
          <a:ln w="12700">
            <a:solidFill>
              <a:srgbClr val="E5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2240280"/>
            <a:ext cx="1280160" cy="320040"/>
          </a:xfrm>
          <a:prstGeom prst="rect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0440" y="2788920"/>
            <a:ext cx="2377440" cy="1874520"/>
          </a:xfrm>
          <a:prstGeom prst="rect">
            <a:avLst/>
          </a:prstGeom>
          <a:solidFill>
            <a:srgbClr val="F0F9FA"/>
          </a:solidFill>
          <a:ln w="12700">
            <a:solidFill>
              <a:srgbClr val="BCE5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2926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contact 82%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11880" y="3200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WPM 135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11880" y="3474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Filler words: 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60520" y="4773168"/>
            <a:ext cx="109728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Interview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1417320"/>
            <a:ext cx="274320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1417320"/>
            <a:ext cx="2743200" cy="274320"/>
          </a:xfrm>
          <a:prstGeom prst="rect">
            <a:avLst/>
          </a:prstGeom>
          <a:solidFill>
            <a:srgbClr val="F3FA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27648" y="15087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92240" y="15087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56832" y="15087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86600" y="1828800"/>
            <a:ext cx="1005840" cy="10058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86600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</a:t>
            </a:r>
            <a:endParaRPr lang="en-US" sz="2800" dirty="0"/>
          </a:p>
        </p:txBody>
      </p:sp>
      <p:sp>
        <p:nvSpPr>
          <p:cNvPr id="46" name="Shape 44"/>
          <p:cNvSpPr/>
          <p:nvPr/>
        </p:nvSpPr>
        <p:spPr>
          <a:xfrm>
            <a:off x="6492240" y="3017520"/>
            <a:ext cx="2194560" cy="137160"/>
          </a:xfrm>
          <a:prstGeom prst="rect">
            <a:avLst/>
          </a:prstGeom>
          <a:solidFill>
            <a:srgbClr val="E5F4F6"/>
          </a:solidFill>
          <a:ln w="12700">
            <a:solidFill>
              <a:srgbClr val="E5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92240" y="3017520"/>
            <a:ext cx="1316736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92240" y="3273552"/>
            <a:ext cx="2194560" cy="137160"/>
          </a:xfrm>
          <a:prstGeom prst="rect">
            <a:avLst/>
          </a:prstGeom>
          <a:solidFill>
            <a:srgbClr val="E5F4F6"/>
          </a:solidFill>
          <a:ln w="12700">
            <a:solidFill>
              <a:srgbClr val="E5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92240" y="3273552"/>
            <a:ext cx="1865376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92240" y="3529584"/>
            <a:ext cx="2194560" cy="137160"/>
          </a:xfrm>
          <a:prstGeom prst="rect">
            <a:avLst/>
          </a:prstGeom>
          <a:solidFill>
            <a:srgbClr val="E5F4F6"/>
          </a:solidFill>
          <a:ln w="12700">
            <a:solidFill>
              <a:srgbClr val="E5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92240" y="3529584"/>
            <a:ext cx="1536192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92240" y="3785616"/>
            <a:ext cx="2194560" cy="137160"/>
          </a:xfrm>
          <a:prstGeom prst="rect">
            <a:avLst/>
          </a:prstGeom>
          <a:solidFill>
            <a:srgbClr val="E5F4F6"/>
          </a:solidFill>
          <a:ln w="12700">
            <a:solidFill>
              <a:srgbClr val="E5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3785616"/>
            <a:ext cx="164592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92240" y="4041648"/>
            <a:ext cx="2194560" cy="137160"/>
          </a:xfrm>
          <a:prstGeom prst="rect">
            <a:avLst/>
          </a:prstGeom>
          <a:solidFill>
            <a:srgbClr val="E5F4F6"/>
          </a:solidFill>
          <a:ln w="12700">
            <a:solidFill>
              <a:srgbClr val="E5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92240" y="4041648"/>
            <a:ext cx="1755648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40880" y="4773168"/>
            <a:ext cx="109728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1792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Report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0" y="4937760"/>
            <a:ext cx="9144000" cy="27432"/>
          </a:xfrm>
          <a:prstGeom prst="rect">
            <a:avLst/>
          </a:prstGeom>
          <a:solidFill>
            <a:srgbClr val="BCE5E8"/>
          </a:solidFill>
          <a:ln w="12700">
            <a:solidFill>
              <a:srgbClr val="BCE5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Platform · Product Overview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412480" y="4965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004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Users Get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after one practice session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CE5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402336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Specific score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'good job' — a number per category.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CE5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508760"/>
            <a:ext cx="402336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Transcript review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2194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your own answers and find filler words.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CE5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402336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Improvement tips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794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suggests one concrete thing to fix.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CE5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108960"/>
            <a:ext cx="402336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 over time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3794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your score trend across sessions.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937760"/>
            <a:ext cx="9144000" cy="27432"/>
          </a:xfrm>
          <a:prstGeom prst="rect">
            <a:avLst/>
          </a:prstGeom>
          <a:solidFill>
            <a:srgbClr val="BCE5E8"/>
          </a:solidFill>
          <a:ln w="12700">
            <a:solidFill>
              <a:srgbClr val="BCE5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Platform · Product Overview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0" y="4965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004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Built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today, end to end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108960" cy="3246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B2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product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B2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built and working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54480" y="3429000"/>
            <a:ext cx="9144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dev environment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1536192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2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Sign-up, login, OTP email verification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1938528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938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2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06240" y="19568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+ resume upload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2340864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2340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2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0" y="2359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setup (mode, role, source)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2743200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2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0" y="2761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voice interview with Sarah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40480" y="3145536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3145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2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06240" y="31638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analysis + voice metrics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40480" y="3547872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2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0624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scoring with AI + RAG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40480" y="3950208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3950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2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06240" y="39684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&amp; audit logs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840480" y="4352544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4352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2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206240" y="4370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+ dark mode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9144000" cy="27432"/>
          </a:xfrm>
          <a:prstGeom prst="rect">
            <a:avLst/>
          </a:prstGeom>
          <a:solidFill>
            <a:srgbClr val="BCE5E8"/>
          </a:solidFill>
          <a:ln w="12700">
            <a:solidFill>
              <a:srgbClr val="BCE5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Platform · Product Overview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12480" y="4965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004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97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payments for premium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91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result page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141732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1417320"/>
            <a:ext cx="27432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566160" y="2240280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66160" y="2834640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2697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interviews (Hindi)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66160" y="3429000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3291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recording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141732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1417320"/>
            <a:ext cx="2743200" cy="457200"/>
          </a:xfrm>
          <a:prstGeom prst="rect">
            <a:avLst/>
          </a:prstGeom>
          <a:solidFill>
            <a:srgbClr val="4F7A80"/>
          </a:solidFill>
          <a:ln w="12700">
            <a:solidFill>
              <a:srgbClr val="4F7A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92240" y="2240280"/>
            <a:ext cx="91440" cy="91440"/>
          </a:xfrm>
          <a:prstGeom prst="rect">
            <a:avLst/>
          </a:prstGeom>
          <a:solidFill>
            <a:srgbClr val="4F7A80"/>
          </a:solidFill>
          <a:ln w="12700">
            <a:solidFill>
              <a:srgbClr val="4F7A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enterprise mode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92240" y="2834640"/>
            <a:ext cx="91440" cy="91440"/>
          </a:xfrm>
          <a:prstGeom prst="rect">
            <a:avLst/>
          </a:prstGeom>
          <a:solidFill>
            <a:srgbClr val="4F7A80"/>
          </a:solidFill>
          <a:ln w="12700">
            <a:solidFill>
              <a:srgbClr val="4F7A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2697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question packs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92240" y="3429000"/>
            <a:ext cx="91440" cy="91440"/>
          </a:xfrm>
          <a:prstGeom prst="rect">
            <a:avLst/>
          </a:prstGeom>
          <a:solidFill>
            <a:srgbClr val="4F7A80"/>
          </a:solidFill>
          <a:ln w="12700">
            <a:solidFill>
              <a:srgbClr val="4F7A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3291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937760"/>
            <a:ext cx="9144000" cy="27432"/>
          </a:xfrm>
          <a:prstGeom prst="rect">
            <a:avLst/>
          </a:prstGeom>
          <a:solidFill>
            <a:srgbClr val="BCE5E8"/>
          </a:solidFill>
          <a:ln w="12700">
            <a:solidFill>
              <a:srgbClr val="BCE5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Platform · Product Overview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12480" y="4965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109728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2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product — from idea, to design, to working code.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demo live.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· Project Evaluation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Interview Platform — Product Overview</dc:title>
  <dc:subject>PptxGenJS Presentation</dc:subject>
  <dc:creator>Vivek</dc:creator>
  <cp:lastModifiedBy>Vivek</cp:lastModifiedBy>
  <cp:revision>1</cp:revision>
  <dcterms:created xsi:type="dcterms:W3CDTF">2026-04-11T13:39:47Z</dcterms:created>
  <dcterms:modified xsi:type="dcterms:W3CDTF">2026-04-11T13:39:47Z</dcterms:modified>
</cp:coreProperties>
</file>