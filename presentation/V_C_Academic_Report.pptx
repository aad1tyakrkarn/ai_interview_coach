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1E2761"/>
          </a:solidFill>
          <a:ln w="12700">
            <a:solidFill>
              <a:srgbClr val="1E2761"/>
            </a:solidFill>
            <a:prstDash val="solid"/>
          </a:ln>
        </p:spPr>
      </p:sp>
      <p:sp>
        <p:nvSpPr>
          <p:cNvPr id="3" name="Shape 1"/>
          <p:cNvSpPr/>
          <p:nvPr/>
        </p:nvSpPr>
        <p:spPr>
          <a:xfrm>
            <a:off x="0" y="365760"/>
            <a:ext cx="9144000" cy="36576"/>
          </a:xfrm>
          <a:prstGeom prst="rect">
            <a:avLst/>
          </a:prstGeom>
          <a:solidFill>
            <a:srgbClr val="B5651D"/>
          </a:solidFill>
          <a:ln w="12700">
            <a:solidFill>
              <a:srgbClr val="B5651D"/>
            </a:solidFill>
            <a:prstDash val="solid"/>
          </a:ln>
        </p:spPr>
      </p:sp>
      <p:sp>
        <p:nvSpPr>
          <p:cNvPr id="4" name="Shape 2"/>
          <p:cNvSpPr/>
          <p:nvPr/>
        </p:nvSpPr>
        <p:spPr>
          <a:xfrm>
            <a:off x="0" y="4777740"/>
            <a:ext cx="9144000" cy="36576"/>
          </a:xfrm>
          <a:prstGeom prst="rect">
            <a:avLst/>
          </a:prstGeom>
          <a:solidFill>
            <a:srgbClr val="B5651D"/>
          </a:solidFill>
          <a:ln w="12700">
            <a:solidFill>
              <a:srgbClr val="B5651D"/>
            </a:solidFill>
            <a:prstDash val="solid"/>
          </a:ln>
        </p:spPr>
      </p:sp>
      <p:sp>
        <p:nvSpPr>
          <p:cNvPr id="5" name="Shape 3"/>
          <p:cNvSpPr/>
          <p:nvPr/>
        </p:nvSpPr>
        <p:spPr>
          <a:xfrm>
            <a:off x="0" y="4814316"/>
            <a:ext cx="9144000" cy="329184"/>
          </a:xfrm>
          <a:prstGeom prst="rect">
            <a:avLst/>
          </a:prstGeom>
          <a:solidFill>
            <a:srgbClr val="1E2761"/>
          </a:solidFill>
          <a:ln w="12700">
            <a:solidFill>
              <a:srgbClr val="1E2761"/>
            </a:solidFill>
            <a:prstDash val="solid"/>
          </a:ln>
        </p:spPr>
      </p:sp>
      <p:sp>
        <p:nvSpPr>
          <p:cNvPr id="6" name="Text 4"/>
          <p:cNvSpPr/>
          <p:nvPr/>
        </p:nvSpPr>
        <p:spPr>
          <a:xfrm>
            <a:off x="457200" y="73152"/>
            <a:ext cx="8229600" cy="228600"/>
          </a:xfrm>
          <a:prstGeom prst="rect">
            <a:avLst/>
          </a:prstGeom>
          <a:noFill/>
          <a:ln/>
        </p:spPr>
        <p:txBody>
          <a:bodyPr wrap="square" lIns="0" tIns="0" rIns="0" bIns="0" rtlCol="0" anchor="ctr"/>
          <a:lstStyle/>
          <a:p>
            <a:pPr algn="ctr" indent="0" marL="0">
              <a:buNone/>
            </a:pPr>
            <a:r>
              <a:rPr lang="en-US" sz="1100" b="1" spc="400" kern="0" dirty="0">
                <a:solidFill>
                  <a:srgbClr val="FFFFFF"/>
                </a:solidFill>
                <a:latin typeface="Calibri" pitchFamily="34" charset="0"/>
                <a:ea typeface="Calibri" pitchFamily="34" charset="-122"/>
                <a:cs typeface="Calibri" pitchFamily="34" charset="-120"/>
              </a:rPr>
              <a:t>PROJECT REPORT · EVALUATION</a:t>
            </a:r>
            <a:endParaRPr lang="en-US" sz="1100" dirty="0"/>
          </a:p>
        </p:txBody>
      </p:sp>
      <p:sp>
        <p:nvSpPr>
          <p:cNvPr id="7" name="Text 5"/>
          <p:cNvSpPr/>
          <p:nvPr/>
        </p:nvSpPr>
        <p:spPr>
          <a:xfrm>
            <a:off x="731520" y="1097280"/>
            <a:ext cx="7680960" cy="1554480"/>
          </a:xfrm>
          <a:prstGeom prst="rect">
            <a:avLst/>
          </a:prstGeom>
          <a:noFill/>
          <a:ln/>
        </p:spPr>
        <p:txBody>
          <a:bodyPr wrap="square" lIns="0" tIns="0" rIns="0" bIns="0" rtlCol="0" anchor="ctr"/>
          <a:lstStyle/>
          <a:p>
            <a:pPr algn="ctr" indent="0" marL="0">
              <a:buNone/>
            </a:pPr>
            <a:r>
              <a:rPr lang="en-US" sz="3600" b="1" dirty="0">
                <a:solidFill>
                  <a:srgbClr val="1E2761"/>
                </a:solidFill>
                <a:latin typeface="Georgia" pitchFamily="34" charset="0"/>
                <a:ea typeface="Georgia" pitchFamily="34" charset="-122"/>
                <a:cs typeface="Georgia" pitchFamily="34" charset="-120"/>
              </a:rPr>
              <a:t>A Voice-First AI Platform</a:t>
            </a:r>
            <a:endParaRPr lang="en-US" sz="3600" dirty="0"/>
          </a:p>
          <a:p>
            <a:pPr algn="ctr" indent="0" marL="0">
              <a:buNone/>
            </a:pPr>
            <a:r>
              <a:rPr lang="en-US" sz="3600" b="1" dirty="0">
                <a:solidFill>
                  <a:srgbClr val="1E2761"/>
                </a:solidFill>
                <a:latin typeface="Georgia" pitchFamily="34" charset="0"/>
                <a:ea typeface="Georgia" pitchFamily="34" charset="-122"/>
                <a:cs typeface="Georgia" pitchFamily="34" charset="-120"/>
              </a:rPr>
              <a:t>for Interview Preparation</a:t>
            </a:r>
            <a:endParaRPr lang="en-US" sz="3600" dirty="0"/>
          </a:p>
        </p:txBody>
      </p:sp>
      <p:sp>
        <p:nvSpPr>
          <p:cNvPr id="8" name="Shape 6"/>
          <p:cNvSpPr/>
          <p:nvPr/>
        </p:nvSpPr>
        <p:spPr>
          <a:xfrm>
            <a:off x="4114800" y="2697480"/>
            <a:ext cx="914400" cy="54864"/>
          </a:xfrm>
          <a:prstGeom prst="rect">
            <a:avLst/>
          </a:prstGeom>
          <a:solidFill>
            <a:srgbClr val="B5651D"/>
          </a:solidFill>
          <a:ln w="12700">
            <a:solidFill>
              <a:srgbClr val="B5651D"/>
            </a:solidFill>
            <a:prstDash val="solid"/>
          </a:ln>
        </p:spPr>
      </p:sp>
      <p:sp>
        <p:nvSpPr>
          <p:cNvPr id="9" name="Text 7"/>
          <p:cNvSpPr/>
          <p:nvPr/>
        </p:nvSpPr>
        <p:spPr>
          <a:xfrm>
            <a:off x="731520" y="2834640"/>
            <a:ext cx="7680960" cy="731520"/>
          </a:xfrm>
          <a:prstGeom prst="rect">
            <a:avLst/>
          </a:prstGeom>
          <a:noFill/>
          <a:ln/>
        </p:spPr>
        <p:txBody>
          <a:bodyPr wrap="square" lIns="0" tIns="0" rIns="0" bIns="0" rtlCol="0" anchor="ctr"/>
          <a:lstStyle/>
          <a:p>
            <a:pPr algn="ctr" indent="0" marL="0">
              <a:buNone/>
            </a:pPr>
            <a:r>
              <a:rPr lang="en-US" sz="1400" i="1" dirty="0">
                <a:solidFill>
                  <a:srgbClr val="5C6B95"/>
                </a:solidFill>
                <a:latin typeface="Calibri" pitchFamily="34" charset="0"/>
                <a:ea typeface="Calibri" pitchFamily="34" charset="-122"/>
                <a:cs typeface="Calibri" pitchFamily="34" charset="-120"/>
              </a:rPr>
              <a:t>Using Large Language Models, Retrieval-Augmented Generation,</a:t>
            </a:r>
            <a:endParaRPr lang="en-US" sz="1400" dirty="0"/>
          </a:p>
          <a:p>
            <a:pPr algn="ctr" indent="0" marL="0">
              <a:buNone/>
            </a:pPr>
            <a:r>
              <a:rPr lang="en-US" sz="1400" i="1" dirty="0">
                <a:solidFill>
                  <a:srgbClr val="5C6B95"/>
                </a:solidFill>
                <a:latin typeface="Calibri" pitchFamily="34" charset="0"/>
                <a:ea typeface="Calibri" pitchFamily="34" charset="-122"/>
                <a:cs typeface="Calibri" pitchFamily="34" charset="-120"/>
              </a:rPr>
              <a:t>and Real-Time Multimodal Feedback</a:t>
            </a:r>
            <a:endParaRPr lang="en-US" sz="1400" dirty="0"/>
          </a:p>
        </p:txBody>
      </p:sp>
      <p:sp>
        <p:nvSpPr>
          <p:cNvPr id="10" name="Shape 8"/>
          <p:cNvSpPr/>
          <p:nvPr/>
        </p:nvSpPr>
        <p:spPr>
          <a:xfrm>
            <a:off x="1828800" y="3749040"/>
            <a:ext cx="5486400" cy="868680"/>
          </a:xfrm>
          <a:prstGeom prst="rect">
            <a:avLst/>
          </a:prstGeom>
          <a:solidFill>
            <a:srgbClr val="FFFFFF"/>
          </a:solidFill>
          <a:ln w="12700">
            <a:solidFill>
              <a:srgbClr val="1E2761"/>
            </a:solidFill>
            <a:prstDash val="solid"/>
          </a:ln>
        </p:spPr>
      </p:sp>
      <p:sp>
        <p:nvSpPr>
          <p:cNvPr id="11" name="Text 9"/>
          <p:cNvSpPr/>
          <p:nvPr/>
        </p:nvSpPr>
        <p:spPr>
          <a:xfrm>
            <a:off x="2011680" y="3840480"/>
            <a:ext cx="5120640" cy="7315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Submitted by: </a:t>
            </a:r>
            <a:pPr indent="0" marL="0">
              <a:buNone/>
            </a:pPr>
            <a:r>
              <a:rPr lang="en-US" sz="1200" dirty="0">
                <a:solidFill>
                  <a:srgbClr val="1E2761"/>
                </a:solidFill>
                <a:latin typeface="Calibri" pitchFamily="34" charset="0"/>
                <a:ea typeface="Calibri" pitchFamily="34" charset="-122"/>
                <a:cs typeface="Calibri" pitchFamily="34" charset="-120"/>
              </a:rPr>
              <a:t>Vivek</a:t>
            </a:r>
            <a:endParaRPr lang="en-US" sz="1200" dirty="0"/>
          </a:p>
          <a:p>
            <a:pPr indent="0" marL="0">
              <a:buNone/>
            </a:pPr>
            <a:r>
              <a:rPr lang="en-US" sz="1200" b="1" dirty="0">
                <a:solidFill>
                  <a:srgbClr val="1E2761"/>
                </a:solidFill>
                <a:latin typeface="Calibri" pitchFamily="34" charset="0"/>
                <a:ea typeface="Calibri" pitchFamily="34" charset="-122"/>
                <a:cs typeface="Calibri" pitchFamily="34" charset="-120"/>
              </a:rPr>
              <a:t>Course: </a:t>
            </a:r>
            <a:pPr indent="0" marL="0">
              <a:buNone/>
            </a:pPr>
            <a:r>
              <a:rPr lang="en-US" sz="1200" dirty="0">
                <a:solidFill>
                  <a:srgbClr val="1E2761"/>
                </a:solidFill>
                <a:latin typeface="Calibri" pitchFamily="34" charset="0"/>
                <a:ea typeface="Calibri" pitchFamily="34" charset="-122"/>
                <a:cs typeface="Calibri" pitchFamily="34" charset="-120"/>
              </a:rPr>
              <a:t>B.Tech / Final Project</a:t>
            </a:r>
            <a:endParaRPr lang="en-US" sz="1200" dirty="0"/>
          </a:p>
          <a:p>
            <a:pPr indent="0" marL="0">
              <a:buNone/>
            </a:pPr>
            <a:r>
              <a:rPr lang="en-US" sz="1200" b="1" dirty="0">
                <a:solidFill>
                  <a:srgbClr val="1E2761"/>
                </a:solidFill>
                <a:latin typeface="Calibri" pitchFamily="34" charset="0"/>
                <a:ea typeface="Calibri" pitchFamily="34" charset="-122"/>
                <a:cs typeface="Calibri" pitchFamily="34" charset="-120"/>
              </a:rPr>
              <a:t>Submitted for: </a:t>
            </a:r>
            <a:pPr indent="0" marL="0">
              <a:buNone/>
            </a:pPr>
            <a:r>
              <a:rPr lang="en-US" sz="1200" dirty="0">
                <a:solidFill>
                  <a:srgbClr val="1E2761"/>
                </a:solidFill>
                <a:latin typeface="Calibri" pitchFamily="34" charset="0"/>
                <a:ea typeface="Calibri" pitchFamily="34" charset="-122"/>
                <a:cs typeface="Calibri" pitchFamily="34" charset="-120"/>
              </a:rPr>
              <a:t>Mid-project Evaluation</a:t>
            </a:r>
            <a:endParaRPr lang="en-US" sz="1200" dirty="0"/>
          </a:p>
        </p:txBody>
      </p:sp>
      <p:sp>
        <p:nvSpPr>
          <p:cNvPr id="12" name="Text 10"/>
          <p:cNvSpPr/>
          <p:nvPr/>
        </p:nvSpPr>
        <p:spPr>
          <a:xfrm>
            <a:off x="457200" y="4855464"/>
            <a:ext cx="8229600" cy="228600"/>
          </a:xfrm>
          <a:prstGeom prst="rect">
            <a:avLst/>
          </a:prstGeom>
          <a:noFill/>
          <a:ln/>
        </p:spPr>
        <p:txBody>
          <a:bodyPr wrap="square" lIns="0" tIns="0" rIns="0" bIns="0" rtlCol="0" anchor="ctr"/>
          <a:lstStyle/>
          <a:p>
            <a:pPr algn="ctr" indent="0" marL="0">
              <a:buNone/>
            </a:pPr>
            <a:r>
              <a:rPr lang="en-US" sz="1100" spc="300" kern="0" dirty="0">
                <a:solidFill>
                  <a:srgbClr val="FFFFFF"/>
                </a:solidFill>
                <a:latin typeface="Calibri" pitchFamily="34" charset="0"/>
                <a:ea typeface="Calibri" pitchFamily="34" charset="-122"/>
                <a:cs typeface="Calibri" pitchFamily="34" charset="-120"/>
              </a:rPr>
              <a:t>Project Report · Evaluation Stage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457200" y="411480"/>
            <a:ext cx="411480" cy="320040"/>
          </a:xfrm>
          <a:prstGeom prst="rect">
            <a:avLst/>
          </a:prstGeom>
          <a:solidFill>
            <a:srgbClr val="1E2761"/>
          </a:solidFill>
          <a:ln w="12700">
            <a:solidFill>
              <a:srgbClr val="1E2761"/>
            </a:solidFill>
            <a:prstDash val="solid"/>
          </a:ln>
        </p:spPr>
      </p:sp>
      <p:sp>
        <p:nvSpPr>
          <p:cNvPr id="3" name="Text 1"/>
          <p:cNvSpPr/>
          <p:nvPr/>
        </p:nvSpPr>
        <p:spPr>
          <a:xfrm>
            <a:off x="457200" y="411480"/>
            <a:ext cx="4114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01</a:t>
            </a:r>
            <a:endParaRPr lang="en-US" sz="1400" dirty="0"/>
          </a:p>
        </p:txBody>
      </p:sp>
      <p:sp>
        <p:nvSpPr>
          <p:cNvPr id="4" name="Text 2"/>
          <p:cNvSpPr/>
          <p:nvPr/>
        </p:nvSpPr>
        <p:spPr>
          <a:xfrm>
            <a:off x="1005840" y="365760"/>
            <a:ext cx="822960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Abstract</a:t>
            </a:r>
            <a:endParaRPr lang="en-US" sz="2600" dirty="0"/>
          </a:p>
        </p:txBody>
      </p:sp>
      <p:sp>
        <p:nvSpPr>
          <p:cNvPr id="5" name="Shape 3"/>
          <p:cNvSpPr/>
          <p:nvPr/>
        </p:nvSpPr>
        <p:spPr>
          <a:xfrm>
            <a:off x="1005840" y="896112"/>
            <a:ext cx="548640" cy="36576"/>
          </a:xfrm>
          <a:prstGeom prst="rect">
            <a:avLst/>
          </a:prstGeom>
          <a:solidFill>
            <a:srgbClr val="B5651D"/>
          </a:solidFill>
          <a:ln w="12700">
            <a:solidFill>
              <a:srgbClr val="B5651D"/>
            </a:solidFill>
            <a:prstDash val="solid"/>
          </a:ln>
        </p:spPr>
      </p:sp>
      <p:sp>
        <p:nvSpPr>
          <p:cNvPr id="6" name="Text 4"/>
          <p:cNvSpPr/>
          <p:nvPr/>
        </p:nvSpPr>
        <p:spPr>
          <a:xfrm>
            <a:off x="1005840" y="960120"/>
            <a:ext cx="8229600" cy="274320"/>
          </a:xfrm>
          <a:prstGeom prst="rect">
            <a:avLst/>
          </a:prstGeom>
          <a:noFill/>
          <a:ln/>
        </p:spPr>
        <p:txBody>
          <a:bodyPr wrap="square" lIns="0" tIns="0" rIns="0" bIns="0" rtlCol="0" anchor="ctr"/>
          <a:lstStyle/>
          <a:p>
            <a:pPr indent="0" marL="0">
              <a:buNone/>
            </a:pPr>
            <a:r>
              <a:rPr lang="en-US" sz="1200" i="1" dirty="0">
                <a:solidFill>
                  <a:srgbClr val="5C6B95"/>
                </a:solidFill>
                <a:latin typeface="Calibri" pitchFamily="34" charset="0"/>
                <a:ea typeface="Calibri" pitchFamily="34" charset="-122"/>
                <a:cs typeface="Calibri" pitchFamily="34" charset="-120"/>
              </a:rPr>
              <a:t>Brief summary of the project</a:t>
            </a:r>
            <a:endParaRPr lang="en-US" sz="1200" dirty="0"/>
          </a:p>
        </p:txBody>
      </p:sp>
      <p:sp>
        <p:nvSpPr>
          <p:cNvPr id="7" name="Shape 5"/>
          <p:cNvSpPr/>
          <p:nvPr/>
        </p:nvSpPr>
        <p:spPr>
          <a:xfrm>
            <a:off x="457200" y="1417320"/>
            <a:ext cx="91440" cy="3291840"/>
          </a:xfrm>
          <a:prstGeom prst="rect">
            <a:avLst/>
          </a:prstGeom>
          <a:solidFill>
            <a:srgbClr val="B5651D"/>
          </a:solidFill>
          <a:ln w="12700">
            <a:solidFill>
              <a:srgbClr val="B5651D"/>
            </a:solidFill>
            <a:prstDash val="solid"/>
          </a:ln>
        </p:spPr>
      </p:sp>
      <p:sp>
        <p:nvSpPr>
          <p:cNvPr id="8" name="Text 6"/>
          <p:cNvSpPr/>
          <p:nvPr/>
        </p:nvSpPr>
        <p:spPr>
          <a:xfrm>
            <a:off x="731520" y="1417320"/>
            <a:ext cx="8046720" cy="1005840"/>
          </a:xfrm>
          <a:prstGeom prst="rect">
            <a:avLst/>
          </a:prstGeom>
          <a:noFill/>
          <a:ln/>
        </p:spPr>
        <p:txBody>
          <a:bodyPr wrap="square" lIns="0" tIns="0" rIns="0" bIns="0"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This project presents an AI-based interview preparation platform designed to help students and job seekers practice mock interviews in a realistic way. Unlike traditional text-based tools, the proposed system uses voice, camera, and resume data to simulate a complete interview experience.</a:t>
            </a:r>
            <a:endParaRPr lang="en-US" sz="1300" dirty="0"/>
          </a:p>
        </p:txBody>
      </p:sp>
      <p:sp>
        <p:nvSpPr>
          <p:cNvPr id="9" name="Text 7"/>
          <p:cNvSpPr/>
          <p:nvPr/>
        </p:nvSpPr>
        <p:spPr>
          <a:xfrm>
            <a:off x="731520" y="2514600"/>
            <a:ext cx="8046720" cy="914400"/>
          </a:xfrm>
          <a:prstGeom prst="rect">
            <a:avLst/>
          </a:prstGeom>
          <a:noFill/>
          <a:ln/>
        </p:spPr>
        <p:txBody>
          <a:bodyPr wrap="square" lIns="0" tIns="0" rIns="0" bIns="0" rtlCol="0" anchor="ctr"/>
          <a:lstStyle/>
          <a:p>
            <a:pPr indent="0" marL="0">
              <a:buNone/>
            </a:pPr>
            <a:r>
              <a:rPr lang="en-US" sz="1300" dirty="0">
                <a:solidFill>
                  <a:srgbClr val="1E2761"/>
                </a:solidFill>
                <a:latin typeface="Calibri" pitchFamily="34" charset="0"/>
                <a:ea typeface="Calibri" pitchFamily="34" charset="-122"/>
                <a:cs typeface="Calibri" pitchFamily="34" charset="-120"/>
              </a:rPr>
              <a:t>A Large Language Model (Groq LLaMA 3.3) acts as the AI interviewer. A Retrieval-Augmented Generation (RAG) pipeline is used to compare candidate answers with ideal answers. Facial and pose analysis give feedback on eye contact and posture.</a:t>
            </a:r>
            <a:endParaRPr lang="en-US" sz="1300" dirty="0"/>
          </a:p>
        </p:txBody>
      </p:sp>
      <p:sp>
        <p:nvSpPr>
          <p:cNvPr id="10" name="Text 8"/>
          <p:cNvSpPr/>
          <p:nvPr/>
        </p:nvSpPr>
        <p:spPr>
          <a:xfrm>
            <a:off x="731520" y="3520440"/>
            <a:ext cx="8046720" cy="1097280"/>
          </a:xfrm>
          <a:prstGeom prst="rect">
            <a:avLst/>
          </a:prstGeom>
          <a:noFill/>
          <a:ln/>
        </p:spPr>
        <p:txBody>
          <a:bodyPr wrap="square" lIns="0" tIns="0" rIns="0" bIns="0"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 platform follows the Agile SDLC model and is built as a three-tier microservice architecture. It is intended to serve as a low-cost, always-available practice tool for placement preparation.</a:t>
            </a:r>
            <a:endParaRPr lang="en-US" sz="1300" dirty="0"/>
          </a:p>
        </p:txBody>
      </p:sp>
      <p:sp>
        <p:nvSpPr>
          <p:cNvPr id="11" name="Shape 9"/>
          <p:cNvSpPr/>
          <p:nvPr/>
        </p:nvSpPr>
        <p:spPr>
          <a:xfrm>
            <a:off x="457200" y="4434840"/>
            <a:ext cx="8229600" cy="320040"/>
          </a:xfrm>
          <a:prstGeom prst="rect">
            <a:avLst/>
          </a:prstGeom>
          <a:solidFill>
            <a:srgbClr val="EEF1F9"/>
          </a:solidFill>
          <a:ln w="12700">
            <a:solidFill>
              <a:srgbClr val="CFD4E6"/>
            </a:solidFill>
            <a:prstDash val="solid"/>
          </a:ln>
        </p:spPr>
      </p:sp>
      <p:sp>
        <p:nvSpPr>
          <p:cNvPr id="12" name="Text 10"/>
          <p:cNvSpPr/>
          <p:nvPr/>
        </p:nvSpPr>
        <p:spPr>
          <a:xfrm>
            <a:off x="594360" y="4462272"/>
            <a:ext cx="8046720" cy="274320"/>
          </a:xfrm>
          <a:prstGeom prst="rect">
            <a:avLst/>
          </a:prstGeom>
          <a:noFill/>
          <a:ln/>
        </p:spPr>
        <p:txBody>
          <a:bodyPr wrap="square" lIns="0" tIns="0" rIns="0" bIns="0" rtlCol="0" anchor="ctr"/>
          <a:lstStyle/>
          <a:p>
            <a:pPr indent="0" marL="0">
              <a:buNone/>
            </a:pPr>
            <a:r>
              <a:rPr lang="en-US" sz="1100" b="1" dirty="0">
                <a:solidFill>
                  <a:srgbClr val="1E2761"/>
                </a:solidFill>
                <a:latin typeface="Calibri" pitchFamily="34" charset="0"/>
                <a:ea typeface="Calibri" pitchFamily="34" charset="-122"/>
                <a:cs typeface="Calibri" pitchFamily="34" charset="-120"/>
              </a:rPr>
              <a:t>Keywords: </a:t>
            </a:r>
            <a:pPr indent="0" marL="0">
              <a:buNone/>
            </a:pPr>
            <a:r>
              <a:rPr lang="en-US" sz="1100" i="1" dirty="0">
                <a:solidFill>
                  <a:srgbClr val="1E2761"/>
                </a:solidFill>
                <a:latin typeface="Calibri" pitchFamily="34" charset="0"/>
                <a:ea typeface="Calibri" pitchFamily="34" charset="-122"/>
                <a:cs typeface="Calibri" pitchFamily="34" charset="-120"/>
              </a:rPr>
              <a:t>LLM, RAG, FAISS, SDLC, MediaPipe, Interview Preparation, Voice Interface</a:t>
            </a:r>
            <a:endParaRPr lang="en-US" sz="1100" dirty="0"/>
          </a:p>
        </p:txBody>
      </p:sp>
      <p:sp>
        <p:nvSpPr>
          <p:cNvPr id="13" name="Shape 11"/>
          <p:cNvSpPr/>
          <p:nvPr/>
        </p:nvSpPr>
        <p:spPr>
          <a:xfrm>
            <a:off x="0" y="4937760"/>
            <a:ext cx="9144000" cy="27432"/>
          </a:xfrm>
          <a:prstGeom prst="rect">
            <a:avLst/>
          </a:prstGeom>
          <a:solidFill>
            <a:srgbClr val="CFD4E6"/>
          </a:solidFill>
          <a:ln w="12700">
            <a:solidFill>
              <a:srgbClr val="CFD4E6"/>
            </a:solidFill>
            <a:prstDash val="solid"/>
          </a:ln>
        </p:spPr>
      </p:sp>
      <p:sp>
        <p:nvSpPr>
          <p:cNvPr id="14" name="Text 12"/>
          <p:cNvSpPr/>
          <p:nvPr/>
        </p:nvSpPr>
        <p:spPr>
          <a:xfrm>
            <a:off x="457200" y="4965192"/>
            <a:ext cx="6400800" cy="182880"/>
          </a:xfrm>
          <a:prstGeom prst="rect">
            <a:avLst/>
          </a:prstGeom>
          <a:noFill/>
          <a:ln/>
        </p:spPr>
        <p:txBody>
          <a:bodyPr wrap="square" lIns="0" tIns="0" rIns="0" bIns="0" rtlCol="0" anchor="ctr"/>
          <a:lstStyle/>
          <a:p>
            <a:pPr indent="0" marL="0">
              <a:buNone/>
            </a:pPr>
            <a:r>
              <a:rPr lang="en-US" sz="900" dirty="0">
                <a:solidFill>
                  <a:srgbClr val="5C6B95"/>
                </a:solidFill>
                <a:latin typeface="Calibri" pitchFamily="34" charset="0"/>
                <a:ea typeface="Calibri" pitchFamily="34" charset="-122"/>
                <a:cs typeface="Calibri" pitchFamily="34" charset="-120"/>
              </a:rPr>
              <a:t>AI Interview Platform · Project Report</a:t>
            </a:r>
            <a:endParaRPr lang="en-US" sz="900" dirty="0"/>
          </a:p>
        </p:txBody>
      </p:sp>
      <p:sp>
        <p:nvSpPr>
          <p:cNvPr id="15" name="Text 13"/>
          <p:cNvSpPr/>
          <p:nvPr/>
        </p:nvSpPr>
        <p:spPr>
          <a:xfrm>
            <a:off x="8412480" y="4965192"/>
            <a:ext cx="365760" cy="182880"/>
          </a:xfrm>
          <a:prstGeom prst="rect">
            <a:avLst/>
          </a:prstGeom>
          <a:noFill/>
          <a:ln/>
        </p:spPr>
        <p:txBody>
          <a:bodyPr wrap="square" lIns="0" tIns="0" rIns="0" bIns="0" rtlCol="0" anchor="ctr"/>
          <a:lstStyle/>
          <a:p>
            <a:pPr algn="r" indent="0" marL="0">
              <a:buNone/>
            </a:pPr>
            <a:r>
              <a:rPr lang="en-US" sz="900" dirty="0">
                <a:solidFill>
                  <a:srgbClr val="5C6B9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457200" y="411480"/>
            <a:ext cx="411480" cy="320040"/>
          </a:xfrm>
          <a:prstGeom prst="rect">
            <a:avLst/>
          </a:prstGeom>
          <a:solidFill>
            <a:srgbClr val="1E2761"/>
          </a:solidFill>
          <a:ln w="12700">
            <a:solidFill>
              <a:srgbClr val="1E2761"/>
            </a:solidFill>
            <a:prstDash val="solid"/>
          </a:ln>
        </p:spPr>
      </p:sp>
      <p:sp>
        <p:nvSpPr>
          <p:cNvPr id="3" name="Text 1"/>
          <p:cNvSpPr/>
          <p:nvPr/>
        </p:nvSpPr>
        <p:spPr>
          <a:xfrm>
            <a:off x="457200" y="411480"/>
            <a:ext cx="4114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02</a:t>
            </a:r>
            <a:endParaRPr lang="en-US" sz="1400" dirty="0"/>
          </a:p>
        </p:txBody>
      </p:sp>
      <p:sp>
        <p:nvSpPr>
          <p:cNvPr id="4" name="Text 2"/>
          <p:cNvSpPr/>
          <p:nvPr/>
        </p:nvSpPr>
        <p:spPr>
          <a:xfrm>
            <a:off x="1005840" y="365760"/>
            <a:ext cx="822960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Problem Statement &amp; Objectives</a:t>
            </a:r>
            <a:endParaRPr lang="en-US" sz="2600" dirty="0"/>
          </a:p>
        </p:txBody>
      </p:sp>
      <p:sp>
        <p:nvSpPr>
          <p:cNvPr id="5" name="Shape 3"/>
          <p:cNvSpPr/>
          <p:nvPr/>
        </p:nvSpPr>
        <p:spPr>
          <a:xfrm>
            <a:off x="1005840" y="896112"/>
            <a:ext cx="548640" cy="36576"/>
          </a:xfrm>
          <a:prstGeom prst="rect">
            <a:avLst/>
          </a:prstGeom>
          <a:solidFill>
            <a:srgbClr val="B5651D"/>
          </a:solidFill>
          <a:ln w="12700">
            <a:solidFill>
              <a:srgbClr val="B5651D"/>
            </a:solidFill>
            <a:prstDash val="solid"/>
          </a:ln>
        </p:spPr>
      </p:sp>
      <p:sp>
        <p:nvSpPr>
          <p:cNvPr id="6" name="Shape 4"/>
          <p:cNvSpPr/>
          <p:nvPr/>
        </p:nvSpPr>
        <p:spPr>
          <a:xfrm>
            <a:off x="457200" y="1417320"/>
            <a:ext cx="4023360" cy="3291840"/>
          </a:xfrm>
          <a:prstGeom prst="rect">
            <a:avLst/>
          </a:prstGeom>
          <a:solidFill>
            <a:srgbClr val="FFFFFF"/>
          </a:solidFill>
          <a:ln w="12700">
            <a:solidFill>
              <a:srgbClr val="1E2761"/>
            </a:solidFill>
            <a:prstDash val="solid"/>
          </a:ln>
        </p:spPr>
      </p:sp>
      <p:sp>
        <p:nvSpPr>
          <p:cNvPr id="7" name="Shape 5"/>
          <p:cNvSpPr/>
          <p:nvPr/>
        </p:nvSpPr>
        <p:spPr>
          <a:xfrm>
            <a:off x="457200" y="1417320"/>
            <a:ext cx="4023360" cy="411480"/>
          </a:xfrm>
          <a:prstGeom prst="rect">
            <a:avLst/>
          </a:prstGeom>
          <a:solidFill>
            <a:srgbClr val="1E2761"/>
          </a:solidFill>
          <a:ln w="12700">
            <a:solidFill>
              <a:srgbClr val="1E2761"/>
            </a:solidFill>
            <a:prstDash val="solid"/>
          </a:ln>
        </p:spPr>
      </p:sp>
      <p:sp>
        <p:nvSpPr>
          <p:cNvPr id="8" name="Text 6"/>
          <p:cNvSpPr/>
          <p:nvPr/>
        </p:nvSpPr>
        <p:spPr>
          <a:xfrm>
            <a:off x="594360" y="1490472"/>
            <a:ext cx="3749040" cy="27432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Problem Statement</a:t>
            </a:r>
            <a:endParaRPr lang="en-US" sz="1300" dirty="0"/>
          </a:p>
        </p:txBody>
      </p:sp>
      <p:sp>
        <p:nvSpPr>
          <p:cNvPr id="9" name="Text 7"/>
          <p:cNvSpPr/>
          <p:nvPr/>
        </p:nvSpPr>
        <p:spPr>
          <a:xfrm>
            <a:off x="640080" y="1965960"/>
            <a:ext cx="3657600" cy="2651760"/>
          </a:xfrm>
          <a:prstGeom prst="rect">
            <a:avLst/>
          </a:prstGeom>
          <a:noFill/>
          <a:ln/>
        </p:spPr>
        <p:txBody>
          <a:bodyPr wrap="square" lIns="0" tIns="0" rIns="0" bIns="0" rtlCol="0" anchor="ctr"/>
          <a:lstStyle/>
          <a:p>
            <a:pPr indent="0" marL="0">
              <a:buNone/>
            </a:pPr>
            <a:r>
              <a:rPr lang="en-US" sz="1200" dirty="0">
                <a:solidFill>
                  <a:srgbClr val="1E2761"/>
                </a:solidFill>
                <a:latin typeface="Calibri" pitchFamily="34" charset="0"/>
                <a:ea typeface="Calibri" pitchFamily="34" charset="-122"/>
                <a:cs typeface="Calibri" pitchFamily="34" charset="-120"/>
              </a:rPr>
              <a:t>Students preparing for interviews have limited access to realistic practice. Human mock interviews are expensive and hard to schedule. Existing online tools rely on typed text, do not read the candidate's resume, and cannot give feedback on voice or body language. This leaves a gap between preparation and the actual interview experience.</a:t>
            </a:r>
            <a:endParaRPr lang="en-US" sz="1200" dirty="0"/>
          </a:p>
        </p:txBody>
      </p:sp>
      <p:sp>
        <p:nvSpPr>
          <p:cNvPr id="10" name="Shape 8"/>
          <p:cNvSpPr/>
          <p:nvPr/>
        </p:nvSpPr>
        <p:spPr>
          <a:xfrm>
            <a:off x="4663440" y="1417320"/>
            <a:ext cx="4023360" cy="3291840"/>
          </a:xfrm>
          <a:prstGeom prst="rect">
            <a:avLst/>
          </a:prstGeom>
          <a:solidFill>
            <a:srgbClr val="FFFFFF"/>
          </a:solidFill>
          <a:ln w="12700">
            <a:solidFill>
              <a:srgbClr val="1E2761"/>
            </a:solidFill>
            <a:prstDash val="solid"/>
          </a:ln>
        </p:spPr>
      </p:sp>
      <p:sp>
        <p:nvSpPr>
          <p:cNvPr id="11" name="Shape 9"/>
          <p:cNvSpPr/>
          <p:nvPr/>
        </p:nvSpPr>
        <p:spPr>
          <a:xfrm>
            <a:off x="4663440" y="1417320"/>
            <a:ext cx="4023360" cy="411480"/>
          </a:xfrm>
          <a:prstGeom prst="rect">
            <a:avLst/>
          </a:prstGeom>
          <a:solidFill>
            <a:srgbClr val="1E2761"/>
          </a:solidFill>
          <a:ln w="12700">
            <a:solidFill>
              <a:srgbClr val="1E2761"/>
            </a:solidFill>
            <a:prstDash val="solid"/>
          </a:ln>
        </p:spPr>
      </p:sp>
      <p:sp>
        <p:nvSpPr>
          <p:cNvPr id="12" name="Text 10"/>
          <p:cNvSpPr/>
          <p:nvPr/>
        </p:nvSpPr>
        <p:spPr>
          <a:xfrm>
            <a:off x="4800600" y="1490472"/>
            <a:ext cx="3749040" cy="27432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Objectives</a:t>
            </a:r>
            <a:endParaRPr lang="en-US" sz="1300" dirty="0"/>
          </a:p>
        </p:txBody>
      </p:sp>
      <p:sp>
        <p:nvSpPr>
          <p:cNvPr id="13" name="Text 11"/>
          <p:cNvSpPr/>
          <p:nvPr/>
        </p:nvSpPr>
        <p:spPr>
          <a:xfrm>
            <a:off x="4846320" y="1965960"/>
            <a:ext cx="411480" cy="274320"/>
          </a:xfrm>
          <a:prstGeom prst="rect">
            <a:avLst/>
          </a:prstGeom>
          <a:noFill/>
          <a:ln/>
        </p:spPr>
        <p:txBody>
          <a:bodyPr wrap="square" lIns="0" tIns="0" rIns="0" bIns="0" rtlCol="0" anchor="ctr"/>
          <a:lstStyle/>
          <a:p>
            <a:pPr indent="0" marL="0">
              <a:buNone/>
            </a:pPr>
            <a:r>
              <a:rPr lang="en-US" sz="1200" b="1" dirty="0">
                <a:solidFill>
                  <a:srgbClr val="B5651D"/>
                </a:solidFill>
                <a:latin typeface="Georgia" pitchFamily="34" charset="0"/>
                <a:ea typeface="Georgia" pitchFamily="34" charset="-122"/>
                <a:cs typeface="Georgia" pitchFamily="34" charset="-120"/>
              </a:rPr>
              <a:t>(1)</a:t>
            </a:r>
            <a:endParaRPr lang="en-US" sz="1200" dirty="0"/>
          </a:p>
        </p:txBody>
      </p:sp>
      <p:sp>
        <p:nvSpPr>
          <p:cNvPr id="14" name="Text 12"/>
          <p:cNvSpPr/>
          <p:nvPr/>
        </p:nvSpPr>
        <p:spPr>
          <a:xfrm>
            <a:off x="5257800" y="1965960"/>
            <a:ext cx="3337560" cy="5029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Build an AI interviewer that asks personalised questions from a user's resume.</a:t>
            </a:r>
            <a:endParaRPr lang="en-US" sz="1100" dirty="0"/>
          </a:p>
        </p:txBody>
      </p:sp>
      <p:sp>
        <p:nvSpPr>
          <p:cNvPr id="15" name="Text 13"/>
          <p:cNvSpPr/>
          <p:nvPr/>
        </p:nvSpPr>
        <p:spPr>
          <a:xfrm>
            <a:off x="4846320" y="2496312"/>
            <a:ext cx="411480" cy="274320"/>
          </a:xfrm>
          <a:prstGeom prst="rect">
            <a:avLst/>
          </a:prstGeom>
          <a:noFill/>
          <a:ln/>
        </p:spPr>
        <p:txBody>
          <a:bodyPr wrap="square" lIns="0" tIns="0" rIns="0" bIns="0" rtlCol="0" anchor="ctr"/>
          <a:lstStyle/>
          <a:p>
            <a:pPr indent="0" marL="0">
              <a:buNone/>
            </a:pPr>
            <a:r>
              <a:rPr lang="en-US" sz="1200" b="1" dirty="0">
                <a:solidFill>
                  <a:srgbClr val="B5651D"/>
                </a:solidFill>
                <a:latin typeface="Georgia" pitchFamily="34" charset="0"/>
                <a:ea typeface="Georgia" pitchFamily="34" charset="-122"/>
                <a:cs typeface="Georgia" pitchFamily="34" charset="-120"/>
              </a:rPr>
              <a:t>(2)</a:t>
            </a:r>
            <a:endParaRPr lang="en-US" sz="1200" dirty="0"/>
          </a:p>
        </p:txBody>
      </p:sp>
      <p:sp>
        <p:nvSpPr>
          <p:cNvPr id="16" name="Text 14"/>
          <p:cNvSpPr/>
          <p:nvPr/>
        </p:nvSpPr>
        <p:spPr>
          <a:xfrm>
            <a:off x="5257800" y="2496312"/>
            <a:ext cx="3337560" cy="5029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Enable natural voice interaction using speech-to-text and neural text-to-speech.</a:t>
            </a:r>
            <a:endParaRPr lang="en-US" sz="1100" dirty="0"/>
          </a:p>
        </p:txBody>
      </p:sp>
      <p:sp>
        <p:nvSpPr>
          <p:cNvPr id="17" name="Text 15"/>
          <p:cNvSpPr/>
          <p:nvPr/>
        </p:nvSpPr>
        <p:spPr>
          <a:xfrm>
            <a:off x="4846320" y="3026664"/>
            <a:ext cx="411480" cy="274320"/>
          </a:xfrm>
          <a:prstGeom prst="rect">
            <a:avLst/>
          </a:prstGeom>
          <a:noFill/>
          <a:ln/>
        </p:spPr>
        <p:txBody>
          <a:bodyPr wrap="square" lIns="0" tIns="0" rIns="0" bIns="0" rtlCol="0" anchor="ctr"/>
          <a:lstStyle/>
          <a:p>
            <a:pPr indent="0" marL="0">
              <a:buNone/>
            </a:pPr>
            <a:r>
              <a:rPr lang="en-US" sz="1200" b="1" dirty="0">
                <a:solidFill>
                  <a:srgbClr val="B5651D"/>
                </a:solidFill>
                <a:latin typeface="Georgia" pitchFamily="34" charset="0"/>
                <a:ea typeface="Georgia" pitchFamily="34" charset="-122"/>
                <a:cs typeface="Georgia" pitchFamily="34" charset="-120"/>
              </a:rPr>
              <a:t>(3)</a:t>
            </a:r>
            <a:endParaRPr lang="en-US" sz="1200" dirty="0"/>
          </a:p>
        </p:txBody>
      </p:sp>
      <p:sp>
        <p:nvSpPr>
          <p:cNvPr id="18" name="Text 16"/>
          <p:cNvSpPr/>
          <p:nvPr/>
        </p:nvSpPr>
        <p:spPr>
          <a:xfrm>
            <a:off x="5257800" y="3026664"/>
            <a:ext cx="3337560" cy="5029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Provide real-time feedback on posture, eye contact, and speaking rate.</a:t>
            </a:r>
            <a:endParaRPr lang="en-US" sz="1100" dirty="0"/>
          </a:p>
        </p:txBody>
      </p:sp>
      <p:sp>
        <p:nvSpPr>
          <p:cNvPr id="19" name="Text 17"/>
          <p:cNvSpPr/>
          <p:nvPr/>
        </p:nvSpPr>
        <p:spPr>
          <a:xfrm>
            <a:off x="4846320" y="3557016"/>
            <a:ext cx="411480" cy="274320"/>
          </a:xfrm>
          <a:prstGeom prst="rect">
            <a:avLst/>
          </a:prstGeom>
          <a:noFill/>
          <a:ln/>
        </p:spPr>
        <p:txBody>
          <a:bodyPr wrap="square" lIns="0" tIns="0" rIns="0" bIns="0" rtlCol="0" anchor="ctr"/>
          <a:lstStyle/>
          <a:p>
            <a:pPr indent="0" marL="0">
              <a:buNone/>
            </a:pPr>
            <a:r>
              <a:rPr lang="en-US" sz="1200" b="1" dirty="0">
                <a:solidFill>
                  <a:srgbClr val="B5651D"/>
                </a:solidFill>
                <a:latin typeface="Georgia" pitchFamily="34" charset="0"/>
                <a:ea typeface="Georgia" pitchFamily="34" charset="-122"/>
                <a:cs typeface="Georgia" pitchFamily="34" charset="-120"/>
              </a:rPr>
              <a:t>(4)</a:t>
            </a:r>
            <a:endParaRPr lang="en-US" sz="1200" dirty="0"/>
          </a:p>
        </p:txBody>
      </p:sp>
      <p:sp>
        <p:nvSpPr>
          <p:cNvPr id="20" name="Text 18"/>
          <p:cNvSpPr/>
          <p:nvPr/>
        </p:nvSpPr>
        <p:spPr>
          <a:xfrm>
            <a:off x="5257800" y="3557016"/>
            <a:ext cx="3337560" cy="5029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Score answers using a weighted rubric across five skill categories.</a:t>
            </a:r>
            <a:endParaRPr lang="en-US" sz="1100" dirty="0"/>
          </a:p>
        </p:txBody>
      </p:sp>
      <p:sp>
        <p:nvSpPr>
          <p:cNvPr id="21" name="Text 19"/>
          <p:cNvSpPr/>
          <p:nvPr/>
        </p:nvSpPr>
        <p:spPr>
          <a:xfrm>
            <a:off x="4846320" y="4087368"/>
            <a:ext cx="411480" cy="274320"/>
          </a:xfrm>
          <a:prstGeom prst="rect">
            <a:avLst/>
          </a:prstGeom>
          <a:noFill/>
          <a:ln/>
        </p:spPr>
        <p:txBody>
          <a:bodyPr wrap="square" lIns="0" tIns="0" rIns="0" bIns="0" rtlCol="0" anchor="ctr"/>
          <a:lstStyle/>
          <a:p>
            <a:pPr indent="0" marL="0">
              <a:buNone/>
            </a:pPr>
            <a:r>
              <a:rPr lang="en-US" sz="1200" b="1" dirty="0">
                <a:solidFill>
                  <a:srgbClr val="B5651D"/>
                </a:solidFill>
                <a:latin typeface="Georgia" pitchFamily="34" charset="0"/>
                <a:ea typeface="Georgia" pitchFamily="34" charset="-122"/>
                <a:cs typeface="Georgia" pitchFamily="34" charset="-120"/>
              </a:rPr>
              <a:t>(5)</a:t>
            </a:r>
            <a:endParaRPr lang="en-US" sz="1200" dirty="0"/>
          </a:p>
        </p:txBody>
      </p:sp>
      <p:sp>
        <p:nvSpPr>
          <p:cNvPr id="22" name="Text 20"/>
          <p:cNvSpPr/>
          <p:nvPr/>
        </p:nvSpPr>
        <p:spPr>
          <a:xfrm>
            <a:off x="5257800" y="4087368"/>
            <a:ext cx="3337560" cy="5029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Offer both Practice and Mock modes with different interaction rules.</a:t>
            </a:r>
            <a:endParaRPr lang="en-US" sz="1100" dirty="0"/>
          </a:p>
        </p:txBody>
      </p:sp>
      <p:sp>
        <p:nvSpPr>
          <p:cNvPr id="23" name="Shape 21"/>
          <p:cNvSpPr/>
          <p:nvPr/>
        </p:nvSpPr>
        <p:spPr>
          <a:xfrm>
            <a:off x="0" y="4937760"/>
            <a:ext cx="9144000" cy="27432"/>
          </a:xfrm>
          <a:prstGeom prst="rect">
            <a:avLst/>
          </a:prstGeom>
          <a:solidFill>
            <a:srgbClr val="CFD4E6"/>
          </a:solidFill>
          <a:ln w="12700">
            <a:solidFill>
              <a:srgbClr val="CFD4E6"/>
            </a:solidFill>
            <a:prstDash val="solid"/>
          </a:ln>
        </p:spPr>
      </p:sp>
      <p:sp>
        <p:nvSpPr>
          <p:cNvPr id="24" name="Text 22"/>
          <p:cNvSpPr/>
          <p:nvPr/>
        </p:nvSpPr>
        <p:spPr>
          <a:xfrm>
            <a:off x="457200" y="4965192"/>
            <a:ext cx="6400800" cy="182880"/>
          </a:xfrm>
          <a:prstGeom prst="rect">
            <a:avLst/>
          </a:prstGeom>
          <a:noFill/>
          <a:ln/>
        </p:spPr>
        <p:txBody>
          <a:bodyPr wrap="square" lIns="0" tIns="0" rIns="0" bIns="0" rtlCol="0" anchor="ctr"/>
          <a:lstStyle/>
          <a:p>
            <a:pPr indent="0" marL="0">
              <a:buNone/>
            </a:pPr>
            <a:r>
              <a:rPr lang="en-US" sz="900" dirty="0">
                <a:solidFill>
                  <a:srgbClr val="5C6B95"/>
                </a:solidFill>
                <a:latin typeface="Calibri" pitchFamily="34" charset="0"/>
                <a:ea typeface="Calibri" pitchFamily="34" charset="-122"/>
                <a:cs typeface="Calibri" pitchFamily="34" charset="-120"/>
              </a:rPr>
              <a:t>AI Interview Platform · Project Report</a:t>
            </a:r>
            <a:endParaRPr lang="en-US" sz="900" dirty="0"/>
          </a:p>
        </p:txBody>
      </p:sp>
      <p:sp>
        <p:nvSpPr>
          <p:cNvPr id="25" name="Text 23"/>
          <p:cNvSpPr/>
          <p:nvPr/>
        </p:nvSpPr>
        <p:spPr>
          <a:xfrm>
            <a:off x="8412480" y="4965192"/>
            <a:ext cx="365760" cy="182880"/>
          </a:xfrm>
          <a:prstGeom prst="rect">
            <a:avLst/>
          </a:prstGeom>
          <a:noFill/>
          <a:ln/>
        </p:spPr>
        <p:txBody>
          <a:bodyPr wrap="square" lIns="0" tIns="0" rIns="0" bIns="0" rtlCol="0" anchor="ctr"/>
          <a:lstStyle/>
          <a:p>
            <a:pPr algn="r" indent="0" marL="0">
              <a:buNone/>
            </a:pPr>
            <a:r>
              <a:rPr lang="en-US" sz="900" dirty="0">
                <a:solidFill>
                  <a:srgbClr val="5C6B9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457200" y="411480"/>
            <a:ext cx="411480" cy="320040"/>
          </a:xfrm>
          <a:prstGeom prst="rect">
            <a:avLst/>
          </a:prstGeom>
          <a:solidFill>
            <a:srgbClr val="1E2761"/>
          </a:solidFill>
          <a:ln w="12700">
            <a:solidFill>
              <a:srgbClr val="1E2761"/>
            </a:solidFill>
            <a:prstDash val="solid"/>
          </a:ln>
        </p:spPr>
      </p:sp>
      <p:sp>
        <p:nvSpPr>
          <p:cNvPr id="3" name="Text 1"/>
          <p:cNvSpPr/>
          <p:nvPr/>
        </p:nvSpPr>
        <p:spPr>
          <a:xfrm>
            <a:off x="457200" y="411480"/>
            <a:ext cx="4114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03</a:t>
            </a:r>
            <a:endParaRPr lang="en-US" sz="1400" dirty="0"/>
          </a:p>
        </p:txBody>
      </p:sp>
      <p:sp>
        <p:nvSpPr>
          <p:cNvPr id="4" name="Text 2"/>
          <p:cNvSpPr/>
          <p:nvPr/>
        </p:nvSpPr>
        <p:spPr>
          <a:xfrm>
            <a:off x="1005840" y="365760"/>
            <a:ext cx="822960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Literature Review</a:t>
            </a:r>
            <a:endParaRPr lang="en-US" sz="2600" dirty="0"/>
          </a:p>
        </p:txBody>
      </p:sp>
      <p:sp>
        <p:nvSpPr>
          <p:cNvPr id="5" name="Shape 3"/>
          <p:cNvSpPr/>
          <p:nvPr/>
        </p:nvSpPr>
        <p:spPr>
          <a:xfrm>
            <a:off x="1005840" y="896112"/>
            <a:ext cx="548640" cy="36576"/>
          </a:xfrm>
          <a:prstGeom prst="rect">
            <a:avLst/>
          </a:prstGeom>
          <a:solidFill>
            <a:srgbClr val="B5651D"/>
          </a:solidFill>
          <a:ln w="12700">
            <a:solidFill>
              <a:srgbClr val="B5651D"/>
            </a:solidFill>
            <a:prstDash val="solid"/>
          </a:ln>
        </p:spPr>
      </p:sp>
      <p:sp>
        <p:nvSpPr>
          <p:cNvPr id="6" name="Text 4"/>
          <p:cNvSpPr/>
          <p:nvPr/>
        </p:nvSpPr>
        <p:spPr>
          <a:xfrm>
            <a:off x="1005840" y="960120"/>
            <a:ext cx="8229600" cy="274320"/>
          </a:xfrm>
          <a:prstGeom prst="rect">
            <a:avLst/>
          </a:prstGeom>
          <a:noFill/>
          <a:ln/>
        </p:spPr>
        <p:txBody>
          <a:bodyPr wrap="square" lIns="0" tIns="0" rIns="0" bIns="0" rtlCol="0" anchor="ctr"/>
          <a:lstStyle/>
          <a:p>
            <a:pPr indent="0" marL="0">
              <a:buNone/>
            </a:pPr>
            <a:r>
              <a:rPr lang="en-US" sz="1200" i="1" dirty="0">
                <a:solidFill>
                  <a:srgbClr val="5C6B95"/>
                </a:solidFill>
                <a:latin typeface="Calibri" pitchFamily="34" charset="0"/>
                <a:ea typeface="Calibri" pitchFamily="34" charset="-122"/>
                <a:cs typeface="Calibri" pitchFamily="34" charset="-120"/>
              </a:rPr>
              <a:t>Existing systems and the gap we address</a:t>
            </a:r>
            <a:endParaRPr lang="en-US" sz="1200" dirty="0"/>
          </a:p>
        </p:txBody>
      </p:sp>
      <p:sp>
        <p:nvSpPr>
          <p:cNvPr id="7" name="Shape 5"/>
          <p:cNvSpPr/>
          <p:nvPr/>
        </p:nvSpPr>
        <p:spPr>
          <a:xfrm>
            <a:off x="457200" y="1417320"/>
            <a:ext cx="2011680" cy="457200"/>
          </a:xfrm>
          <a:prstGeom prst="rect">
            <a:avLst/>
          </a:prstGeom>
          <a:solidFill>
            <a:srgbClr val="1E2761"/>
          </a:solidFill>
          <a:ln w="6350">
            <a:solidFill>
              <a:srgbClr val="CFD4E6"/>
            </a:solidFill>
            <a:prstDash val="solid"/>
          </a:ln>
        </p:spPr>
      </p:sp>
      <p:sp>
        <p:nvSpPr>
          <p:cNvPr id="8" name="Text 6"/>
          <p:cNvSpPr/>
          <p:nvPr/>
        </p:nvSpPr>
        <p:spPr>
          <a:xfrm>
            <a:off x="548640" y="1527048"/>
            <a:ext cx="1828800" cy="274320"/>
          </a:xfrm>
          <a:prstGeom prst="rect">
            <a:avLst/>
          </a:prstGeom>
          <a:noFill/>
          <a:ln/>
        </p:spPr>
        <p:txBody>
          <a:bodyPr wrap="square" lIns="0" tIns="0" rIns="0" bIns="0" rtlCol="0" anchor="ctr"/>
          <a:lstStyle/>
          <a:p>
            <a:pPr indent="0" marL="0">
              <a:buNone/>
            </a:pPr>
            <a:r>
              <a:rPr lang="en-US" sz="1100" b="1" dirty="0">
                <a:solidFill>
                  <a:srgbClr val="FFFFFF"/>
                </a:solidFill>
                <a:latin typeface="Georgia" pitchFamily="34" charset="0"/>
                <a:ea typeface="Georgia" pitchFamily="34" charset="-122"/>
                <a:cs typeface="Georgia" pitchFamily="34" charset="-120"/>
              </a:rPr>
              <a:t>System</a:t>
            </a:r>
            <a:endParaRPr lang="en-US" sz="1100" dirty="0"/>
          </a:p>
        </p:txBody>
      </p:sp>
      <p:sp>
        <p:nvSpPr>
          <p:cNvPr id="9" name="Shape 7"/>
          <p:cNvSpPr/>
          <p:nvPr/>
        </p:nvSpPr>
        <p:spPr>
          <a:xfrm>
            <a:off x="2468880" y="1417320"/>
            <a:ext cx="1554480" cy="457200"/>
          </a:xfrm>
          <a:prstGeom prst="rect">
            <a:avLst/>
          </a:prstGeom>
          <a:solidFill>
            <a:srgbClr val="1E2761"/>
          </a:solidFill>
          <a:ln w="6350">
            <a:solidFill>
              <a:srgbClr val="CFD4E6"/>
            </a:solidFill>
            <a:prstDash val="solid"/>
          </a:ln>
        </p:spPr>
      </p:sp>
      <p:sp>
        <p:nvSpPr>
          <p:cNvPr id="10" name="Text 8"/>
          <p:cNvSpPr/>
          <p:nvPr/>
        </p:nvSpPr>
        <p:spPr>
          <a:xfrm>
            <a:off x="2560320" y="1527048"/>
            <a:ext cx="1371600" cy="274320"/>
          </a:xfrm>
          <a:prstGeom prst="rect">
            <a:avLst/>
          </a:prstGeom>
          <a:noFill/>
          <a:ln/>
        </p:spPr>
        <p:txBody>
          <a:bodyPr wrap="square" lIns="0" tIns="0" rIns="0" bIns="0" rtlCol="0" anchor="ctr"/>
          <a:lstStyle/>
          <a:p>
            <a:pPr indent="0" marL="0">
              <a:buNone/>
            </a:pPr>
            <a:r>
              <a:rPr lang="en-US" sz="1100" b="1" dirty="0">
                <a:solidFill>
                  <a:srgbClr val="FFFFFF"/>
                </a:solidFill>
                <a:latin typeface="Georgia" pitchFamily="34" charset="0"/>
                <a:ea typeface="Georgia" pitchFamily="34" charset="-122"/>
                <a:cs typeface="Georgia" pitchFamily="34" charset="-120"/>
              </a:rPr>
              <a:t>Input</a:t>
            </a:r>
            <a:endParaRPr lang="en-US" sz="1100" dirty="0"/>
          </a:p>
        </p:txBody>
      </p:sp>
      <p:sp>
        <p:nvSpPr>
          <p:cNvPr id="11" name="Shape 9"/>
          <p:cNvSpPr/>
          <p:nvPr/>
        </p:nvSpPr>
        <p:spPr>
          <a:xfrm>
            <a:off x="4023360" y="1417320"/>
            <a:ext cx="2194560" cy="457200"/>
          </a:xfrm>
          <a:prstGeom prst="rect">
            <a:avLst/>
          </a:prstGeom>
          <a:solidFill>
            <a:srgbClr val="1E2761"/>
          </a:solidFill>
          <a:ln w="6350">
            <a:solidFill>
              <a:srgbClr val="CFD4E6"/>
            </a:solidFill>
            <a:prstDash val="solid"/>
          </a:ln>
        </p:spPr>
      </p:sp>
      <p:sp>
        <p:nvSpPr>
          <p:cNvPr id="12" name="Text 10"/>
          <p:cNvSpPr/>
          <p:nvPr/>
        </p:nvSpPr>
        <p:spPr>
          <a:xfrm>
            <a:off x="4114800" y="1527048"/>
            <a:ext cx="2011680" cy="274320"/>
          </a:xfrm>
          <a:prstGeom prst="rect">
            <a:avLst/>
          </a:prstGeom>
          <a:noFill/>
          <a:ln/>
        </p:spPr>
        <p:txBody>
          <a:bodyPr wrap="square" lIns="0" tIns="0" rIns="0" bIns="0" rtlCol="0" anchor="ctr"/>
          <a:lstStyle/>
          <a:p>
            <a:pPr indent="0" marL="0">
              <a:buNone/>
            </a:pPr>
            <a:r>
              <a:rPr lang="en-US" sz="1100" b="1" dirty="0">
                <a:solidFill>
                  <a:srgbClr val="FFFFFF"/>
                </a:solidFill>
                <a:latin typeface="Georgia" pitchFamily="34" charset="0"/>
                <a:ea typeface="Georgia" pitchFamily="34" charset="-122"/>
                <a:cs typeface="Georgia" pitchFamily="34" charset="-120"/>
              </a:rPr>
              <a:t>Feedback</a:t>
            </a:r>
            <a:endParaRPr lang="en-US" sz="1100" dirty="0"/>
          </a:p>
        </p:txBody>
      </p:sp>
      <p:sp>
        <p:nvSpPr>
          <p:cNvPr id="13" name="Shape 11"/>
          <p:cNvSpPr/>
          <p:nvPr/>
        </p:nvSpPr>
        <p:spPr>
          <a:xfrm>
            <a:off x="6217920" y="1417320"/>
            <a:ext cx="1280160" cy="457200"/>
          </a:xfrm>
          <a:prstGeom prst="rect">
            <a:avLst/>
          </a:prstGeom>
          <a:solidFill>
            <a:srgbClr val="1E2761"/>
          </a:solidFill>
          <a:ln w="6350">
            <a:solidFill>
              <a:srgbClr val="CFD4E6"/>
            </a:solidFill>
            <a:prstDash val="solid"/>
          </a:ln>
        </p:spPr>
      </p:sp>
      <p:sp>
        <p:nvSpPr>
          <p:cNvPr id="14" name="Text 12"/>
          <p:cNvSpPr/>
          <p:nvPr/>
        </p:nvSpPr>
        <p:spPr>
          <a:xfrm>
            <a:off x="6309360" y="1527048"/>
            <a:ext cx="1097280" cy="274320"/>
          </a:xfrm>
          <a:prstGeom prst="rect">
            <a:avLst/>
          </a:prstGeom>
          <a:noFill/>
          <a:ln/>
        </p:spPr>
        <p:txBody>
          <a:bodyPr wrap="square" lIns="0" tIns="0" rIns="0" bIns="0" rtlCol="0" anchor="ctr"/>
          <a:lstStyle/>
          <a:p>
            <a:pPr indent="0" marL="0">
              <a:buNone/>
            </a:pPr>
            <a:r>
              <a:rPr lang="en-US" sz="1100" b="1" dirty="0">
                <a:solidFill>
                  <a:srgbClr val="FFFFFF"/>
                </a:solidFill>
                <a:latin typeface="Georgia" pitchFamily="34" charset="0"/>
                <a:ea typeface="Georgia" pitchFamily="34" charset="-122"/>
                <a:cs typeface="Georgia" pitchFamily="34" charset="-120"/>
              </a:rPr>
              <a:t>Resume-aware</a:t>
            </a:r>
            <a:endParaRPr lang="en-US" sz="1100" dirty="0"/>
          </a:p>
        </p:txBody>
      </p:sp>
      <p:sp>
        <p:nvSpPr>
          <p:cNvPr id="15" name="Shape 13"/>
          <p:cNvSpPr/>
          <p:nvPr/>
        </p:nvSpPr>
        <p:spPr>
          <a:xfrm>
            <a:off x="7498080" y="1417320"/>
            <a:ext cx="1188720" cy="457200"/>
          </a:xfrm>
          <a:prstGeom prst="rect">
            <a:avLst/>
          </a:prstGeom>
          <a:solidFill>
            <a:srgbClr val="1E2761"/>
          </a:solidFill>
          <a:ln w="6350">
            <a:solidFill>
              <a:srgbClr val="CFD4E6"/>
            </a:solidFill>
            <a:prstDash val="solid"/>
          </a:ln>
        </p:spPr>
      </p:sp>
      <p:sp>
        <p:nvSpPr>
          <p:cNvPr id="16" name="Text 14"/>
          <p:cNvSpPr/>
          <p:nvPr/>
        </p:nvSpPr>
        <p:spPr>
          <a:xfrm>
            <a:off x="7589520" y="1527048"/>
            <a:ext cx="1005840" cy="274320"/>
          </a:xfrm>
          <a:prstGeom prst="rect">
            <a:avLst/>
          </a:prstGeom>
          <a:noFill/>
          <a:ln/>
        </p:spPr>
        <p:txBody>
          <a:bodyPr wrap="square" lIns="0" tIns="0" rIns="0" bIns="0" rtlCol="0" anchor="ctr"/>
          <a:lstStyle/>
          <a:p>
            <a:pPr indent="0" marL="0">
              <a:buNone/>
            </a:pPr>
            <a:r>
              <a:rPr lang="en-US" sz="1100" b="1" dirty="0">
                <a:solidFill>
                  <a:srgbClr val="FFFFFF"/>
                </a:solidFill>
                <a:latin typeface="Georgia" pitchFamily="34" charset="0"/>
                <a:ea typeface="Georgia" pitchFamily="34" charset="-122"/>
                <a:cs typeface="Georgia" pitchFamily="34" charset="-120"/>
              </a:rPr>
              <a:t>Cost</a:t>
            </a:r>
            <a:endParaRPr lang="en-US" sz="1100" dirty="0"/>
          </a:p>
        </p:txBody>
      </p:sp>
      <p:sp>
        <p:nvSpPr>
          <p:cNvPr id="17" name="Shape 15"/>
          <p:cNvSpPr/>
          <p:nvPr/>
        </p:nvSpPr>
        <p:spPr>
          <a:xfrm>
            <a:off x="457200" y="1920240"/>
            <a:ext cx="2011680" cy="457200"/>
          </a:xfrm>
          <a:prstGeom prst="rect">
            <a:avLst/>
          </a:prstGeom>
          <a:solidFill>
            <a:srgbClr val="FFFFFF"/>
          </a:solidFill>
          <a:ln w="6350">
            <a:solidFill>
              <a:srgbClr val="CFD4E6"/>
            </a:solidFill>
            <a:prstDash val="solid"/>
          </a:ln>
        </p:spPr>
      </p:sp>
      <p:sp>
        <p:nvSpPr>
          <p:cNvPr id="18" name="Text 16"/>
          <p:cNvSpPr/>
          <p:nvPr/>
        </p:nvSpPr>
        <p:spPr>
          <a:xfrm>
            <a:off x="548640" y="2029968"/>
            <a:ext cx="1828800" cy="274320"/>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InterviewBuddy</a:t>
            </a:r>
            <a:endParaRPr lang="en-US" sz="1000" dirty="0"/>
          </a:p>
        </p:txBody>
      </p:sp>
      <p:sp>
        <p:nvSpPr>
          <p:cNvPr id="19" name="Shape 17"/>
          <p:cNvSpPr/>
          <p:nvPr/>
        </p:nvSpPr>
        <p:spPr>
          <a:xfrm>
            <a:off x="2468880" y="1920240"/>
            <a:ext cx="1554480" cy="457200"/>
          </a:xfrm>
          <a:prstGeom prst="rect">
            <a:avLst/>
          </a:prstGeom>
          <a:solidFill>
            <a:srgbClr val="FFFFFF"/>
          </a:solidFill>
          <a:ln w="6350">
            <a:solidFill>
              <a:srgbClr val="CFD4E6"/>
            </a:solidFill>
            <a:prstDash val="solid"/>
          </a:ln>
        </p:spPr>
      </p:sp>
      <p:sp>
        <p:nvSpPr>
          <p:cNvPr id="20" name="Text 18"/>
          <p:cNvSpPr/>
          <p:nvPr/>
        </p:nvSpPr>
        <p:spPr>
          <a:xfrm>
            <a:off x="2560320" y="2029968"/>
            <a:ext cx="1371600" cy="274320"/>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Video call</a:t>
            </a:r>
            <a:endParaRPr lang="en-US" sz="1000" dirty="0"/>
          </a:p>
        </p:txBody>
      </p:sp>
      <p:sp>
        <p:nvSpPr>
          <p:cNvPr id="21" name="Shape 19"/>
          <p:cNvSpPr/>
          <p:nvPr/>
        </p:nvSpPr>
        <p:spPr>
          <a:xfrm>
            <a:off x="4023360" y="1920240"/>
            <a:ext cx="2194560" cy="457200"/>
          </a:xfrm>
          <a:prstGeom prst="rect">
            <a:avLst/>
          </a:prstGeom>
          <a:solidFill>
            <a:srgbClr val="FFFFFF"/>
          </a:solidFill>
          <a:ln w="6350">
            <a:solidFill>
              <a:srgbClr val="CFD4E6"/>
            </a:solidFill>
            <a:prstDash val="solid"/>
          </a:ln>
        </p:spPr>
      </p:sp>
      <p:sp>
        <p:nvSpPr>
          <p:cNvPr id="22" name="Text 20"/>
          <p:cNvSpPr/>
          <p:nvPr/>
        </p:nvSpPr>
        <p:spPr>
          <a:xfrm>
            <a:off x="4114800" y="2029968"/>
            <a:ext cx="2011680" cy="274320"/>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Human-only</a:t>
            </a:r>
            <a:endParaRPr lang="en-US" sz="1000" dirty="0"/>
          </a:p>
        </p:txBody>
      </p:sp>
      <p:sp>
        <p:nvSpPr>
          <p:cNvPr id="23" name="Shape 21"/>
          <p:cNvSpPr/>
          <p:nvPr/>
        </p:nvSpPr>
        <p:spPr>
          <a:xfrm>
            <a:off x="6217920" y="1920240"/>
            <a:ext cx="1280160" cy="457200"/>
          </a:xfrm>
          <a:prstGeom prst="rect">
            <a:avLst/>
          </a:prstGeom>
          <a:solidFill>
            <a:srgbClr val="FFFFFF"/>
          </a:solidFill>
          <a:ln w="6350">
            <a:solidFill>
              <a:srgbClr val="CFD4E6"/>
            </a:solidFill>
            <a:prstDash val="solid"/>
          </a:ln>
        </p:spPr>
      </p:sp>
      <p:sp>
        <p:nvSpPr>
          <p:cNvPr id="24" name="Text 22"/>
          <p:cNvSpPr/>
          <p:nvPr/>
        </p:nvSpPr>
        <p:spPr>
          <a:xfrm>
            <a:off x="6309360" y="2029968"/>
            <a:ext cx="1097280" cy="274320"/>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No</a:t>
            </a:r>
            <a:endParaRPr lang="en-US" sz="1000" dirty="0"/>
          </a:p>
        </p:txBody>
      </p:sp>
      <p:sp>
        <p:nvSpPr>
          <p:cNvPr id="25" name="Shape 23"/>
          <p:cNvSpPr/>
          <p:nvPr/>
        </p:nvSpPr>
        <p:spPr>
          <a:xfrm>
            <a:off x="7498080" y="1920240"/>
            <a:ext cx="1188720" cy="457200"/>
          </a:xfrm>
          <a:prstGeom prst="rect">
            <a:avLst/>
          </a:prstGeom>
          <a:solidFill>
            <a:srgbClr val="FFFFFF"/>
          </a:solidFill>
          <a:ln w="6350">
            <a:solidFill>
              <a:srgbClr val="CFD4E6"/>
            </a:solidFill>
            <a:prstDash val="solid"/>
          </a:ln>
        </p:spPr>
      </p:sp>
      <p:sp>
        <p:nvSpPr>
          <p:cNvPr id="26" name="Text 24"/>
          <p:cNvSpPr/>
          <p:nvPr/>
        </p:nvSpPr>
        <p:spPr>
          <a:xfrm>
            <a:off x="7589520" y="2029968"/>
            <a:ext cx="1005840" cy="274320"/>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High</a:t>
            </a:r>
            <a:endParaRPr lang="en-US" sz="1000" dirty="0"/>
          </a:p>
        </p:txBody>
      </p:sp>
      <p:sp>
        <p:nvSpPr>
          <p:cNvPr id="27" name="Shape 25"/>
          <p:cNvSpPr/>
          <p:nvPr/>
        </p:nvSpPr>
        <p:spPr>
          <a:xfrm>
            <a:off x="457200" y="2423160"/>
            <a:ext cx="2011680" cy="457200"/>
          </a:xfrm>
          <a:prstGeom prst="rect">
            <a:avLst/>
          </a:prstGeom>
          <a:solidFill>
            <a:srgbClr val="FFFFFF"/>
          </a:solidFill>
          <a:ln w="6350">
            <a:solidFill>
              <a:srgbClr val="CFD4E6"/>
            </a:solidFill>
            <a:prstDash val="solid"/>
          </a:ln>
        </p:spPr>
      </p:sp>
      <p:sp>
        <p:nvSpPr>
          <p:cNvPr id="28" name="Text 26"/>
          <p:cNvSpPr/>
          <p:nvPr/>
        </p:nvSpPr>
        <p:spPr>
          <a:xfrm>
            <a:off x="548640" y="2532888"/>
            <a:ext cx="1828800" cy="274320"/>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Pramp</a:t>
            </a:r>
            <a:endParaRPr lang="en-US" sz="1000" dirty="0"/>
          </a:p>
        </p:txBody>
      </p:sp>
      <p:sp>
        <p:nvSpPr>
          <p:cNvPr id="29" name="Shape 27"/>
          <p:cNvSpPr/>
          <p:nvPr/>
        </p:nvSpPr>
        <p:spPr>
          <a:xfrm>
            <a:off x="2468880" y="2423160"/>
            <a:ext cx="1554480" cy="457200"/>
          </a:xfrm>
          <a:prstGeom prst="rect">
            <a:avLst/>
          </a:prstGeom>
          <a:solidFill>
            <a:srgbClr val="FFFFFF"/>
          </a:solidFill>
          <a:ln w="6350">
            <a:solidFill>
              <a:srgbClr val="CFD4E6"/>
            </a:solidFill>
            <a:prstDash val="solid"/>
          </a:ln>
        </p:spPr>
      </p:sp>
      <p:sp>
        <p:nvSpPr>
          <p:cNvPr id="30" name="Text 28"/>
          <p:cNvSpPr/>
          <p:nvPr/>
        </p:nvSpPr>
        <p:spPr>
          <a:xfrm>
            <a:off x="2560320" y="2532888"/>
            <a:ext cx="1371600" cy="274320"/>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Peer call</a:t>
            </a:r>
            <a:endParaRPr lang="en-US" sz="1000" dirty="0"/>
          </a:p>
        </p:txBody>
      </p:sp>
      <p:sp>
        <p:nvSpPr>
          <p:cNvPr id="31" name="Shape 29"/>
          <p:cNvSpPr/>
          <p:nvPr/>
        </p:nvSpPr>
        <p:spPr>
          <a:xfrm>
            <a:off x="4023360" y="2423160"/>
            <a:ext cx="2194560" cy="457200"/>
          </a:xfrm>
          <a:prstGeom prst="rect">
            <a:avLst/>
          </a:prstGeom>
          <a:solidFill>
            <a:srgbClr val="FFFFFF"/>
          </a:solidFill>
          <a:ln w="6350">
            <a:solidFill>
              <a:srgbClr val="CFD4E6"/>
            </a:solidFill>
            <a:prstDash val="solid"/>
          </a:ln>
        </p:spPr>
      </p:sp>
      <p:sp>
        <p:nvSpPr>
          <p:cNvPr id="32" name="Text 30"/>
          <p:cNvSpPr/>
          <p:nvPr/>
        </p:nvSpPr>
        <p:spPr>
          <a:xfrm>
            <a:off x="4114800" y="2532888"/>
            <a:ext cx="2011680" cy="274320"/>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Peer subjective</a:t>
            </a:r>
            <a:endParaRPr lang="en-US" sz="1000" dirty="0"/>
          </a:p>
        </p:txBody>
      </p:sp>
      <p:sp>
        <p:nvSpPr>
          <p:cNvPr id="33" name="Shape 31"/>
          <p:cNvSpPr/>
          <p:nvPr/>
        </p:nvSpPr>
        <p:spPr>
          <a:xfrm>
            <a:off x="6217920" y="2423160"/>
            <a:ext cx="1280160" cy="457200"/>
          </a:xfrm>
          <a:prstGeom prst="rect">
            <a:avLst/>
          </a:prstGeom>
          <a:solidFill>
            <a:srgbClr val="FFFFFF"/>
          </a:solidFill>
          <a:ln w="6350">
            <a:solidFill>
              <a:srgbClr val="CFD4E6"/>
            </a:solidFill>
            <a:prstDash val="solid"/>
          </a:ln>
        </p:spPr>
      </p:sp>
      <p:sp>
        <p:nvSpPr>
          <p:cNvPr id="34" name="Text 32"/>
          <p:cNvSpPr/>
          <p:nvPr/>
        </p:nvSpPr>
        <p:spPr>
          <a:xfrm>
            <a:off x="6309360" y="2532888"/>
            <a:ext cx="1097280" cy="274320"/>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No</a:t>
            </a:r>
            <a:endParaRPr lang="en-US" sz="1000" dirty="0"/>
          </a:p>
        </p:txBody>
      </p:sp>
      <p:sp>
        <p:nvSpPr>
          <p:cNvPr id="35" name="Shape 33"/>
          <p:cNvSpPr/>
          <p:nvPr/>
        </p:nvSpPr>
        <p:spPr>
          <a:xfrm>
            <a:off x="7498080" y="2423160"/>
            <a:ext cx="1188720" cy="457200"/>
          </a:xfrm>
          <a:prstGeom prst="rect">
            <a:avLst/>
          </a:prstGeom>
          <a:solidFill>
            <a:srgbClr val="FFFFFF"/>
          </a:solidFill>
          <a:ln w="6350">
            <a:solidFill>
              <a:srgbClr val="CFD4E6"/>
            </a:solidFill>
            <a:prstDash val="solid"/>
          </a:ln>
        </p:spPr>
      </p:sp>
      <p:sp>
        <p:nvSpPr>
          <p:cNvPr id="36" name="Text 34"/>
          <p:cNvSpPr/>
          <p:nvPr/>
        </p:nvSpPr>
        <p:spPr>
          <a:xfrm>
            <a:off x="7589520" y="2532888"/>
            <a:ext cx="1005840" cy="274320"/>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Free</a:t>
            </a:r>
            <a:endParaRPr lang="en-US" sz="1000" dirty="0"/>
          </a:p>
        </p:txBody>
      </p:sp>
      <p:sp>
        <p:nvSpPr>
          <p:cNvPr id="37" name="Shape 35"/>
          <p:cNvSpPr/>
          <p:nvPr/>
        </p:nvSpPr>
        <p:spPr>
          <a:xfrm>
            <a:off x="457200" y="2926080"/>
            <a:ext cx="2011680" cy="457200"/>
          </a:xfrm>
          <a:prstGeom prst="rect">
            <a:avLst/>
          </a:prstGeom>
          <a:solidFill>
            <a:srgbClr val="FFFFFF"/>
          </a:solidFill>
          <a:ln w="6350">
            <a:solidFill>
              <a:srgbClr val="CFD4E6"/>
            </a:solidFill>
            <a:prstDash val="solid"/>
          </a:ln>
        </p:spPr>
      </p:sp>
      <p:sp>
        <p:nvSpPr>
          <p:cNvPr id="38" name="Text 36"/>
          <p:cNvSpPr/>
          <p:nvPr/>
        </p:nvSpPr>
        <p:spPr>
          <a:xfrm>
            <a:off x="548640" y="3035808"/>
            <a:ext cx="1828800" cy="274320"/>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MockRabbit</a:t>
            </a:r>
            <a:endParaRPr lang="en-US" sz="1000" dirty="0"/>
          </a:p>
        </p:txBody>
      </p:sp>
      <p:sp>
        <p:nvSpPr>
          <p:cNvPr id="39" name="Shape 37"/>
          <p:cNvSpPr/>
          <p:nvPr/>
        </p:nvSpPr>
        <p:spPr>
          <a:xfrm>
            <a:off x="2468880" y="2926080"/>
            <a:ext cx="1554480" cy="457200"/>
          </a:xfrm>
          <a:prstGeom prst="rect">
            <a:avLst/>
          </a:prstGeom>
          <a:solidFill>
            <a:srgbClr val="FFFFFF"/>
          </a:solidFill>
          <a:ln w="6350">
            <a:solidFill>
              <a:srgbClr val="CFD4E6"/>
            </a:solidFill>
            <a:prstDash val="solid"/>
          </a:ln>
        </p:spPr>
      </p:sp>
      <p:sp>
        <p:nvSpPr>
          <p:cNvPr id="40" name="Text 38"/>
          <p:cNvSpPr/>
          <p:nvPr/>
        </p:nvSpPr>
        <p:spPr>
          <a:xfrm>
            <a:off x="2560320" y="3035808"/>
            <a:ext cx="1371600" cy="274320"/>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Typed text</a:t>
            </a:r>
            <a:endParaRPr lang="en-US" sz="1000" dirty="0"/>
          </a:p>
        </p:txBody>
      </p:sp>
      <p:sp>
        <p:nvSpPr>
          <p:cNvPr id="41" name="Shape 39"/>
          <p:cNvSpPr/>
          <p:nvPr/>
        </p:nvSpPr>
        <p:spPr>
          <a:xfrm>
            <a:off x="4023360" y="2926080"/>
            <a:ext cx="2194560" cy="457200"/>
          </a:xfrm>
          <a:prstGeom prst="rect">
            <a:avLst/>
          </a:prstGeom>
          <a:solidFill>
            <a:srgbClr val="FFFFFF"/>
          </a:solidFill>
          <a:ln w="6350">
            <a:solidFill>
              <a:srgbClr val="CFD4E6"/>
            </a:solidFill>
            <a:prstDash val="solid"/>
          </a:ln>
        </p:spPr>
      </p:sp>
      <p:sp>
        <p:nvSpPr>
          <p:cNvPr id="42" name="Text 40"/>
          <p:cNvSpPr/>
          <p:nvPr/>
        </p:nvSpPr>
        <p:spPr>
          <a:xfrm>
            <a:off x="4114800" y="3035808"/>
            <a:ext cx="2011680" cy="274320"/>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Keyword matching</a:t>
            </a:r>
            <a:endParaRPr lang="en-US" sz="1000" dirty="0"/>
          </a:p>
        </p:txBody>
      </p:sp>
      <p:sp>
        <p:nvSpPr>
          <p:cNvPr id="43" name="Shape 41"/>
          <p:cNvSpPr/>
          <p:nvPr/>
        </p:nvSpPr>
        <p:spPr>
          <a:xfrm>
            <a:off x="6217920" y="2926080"/>
            <a:ext cx="1280160" cy="457200"/>
          </a:xfrm>
          <a:prstGeom prst="rect">
            <a:avLst/>
          </a:prstGeom>
          <a:solidFill>
            <a:srgbClr val="FFFFFF"/>
          </a:solidFill>
          <a:ln w="6350">
            <a:solidFill>
              <a:srgbClr val="CFD4E6"/>
            </a:solidFill>
            <a:prstDash val="solid"/>
          </a:ln>
        </p:spPr>
      </p:sp>
      <p:sp>
        <p:nvSpPr>
          <p:cNvPr id="44" name="Text 42"/>
          <p:cNvSpPr/>
          <p:nvPr/>
        </p:nvSpPr>
        <p:spPr>
          <a:xfrm>
            <a:off x="6309360" y="3035808"/>
            <a:ext cx="1097280" cy="274320"/>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No</a:t>
            </a:r>
            <a:endParaRPr lang="en-US" sz="1000" dirty="0"/>
          </a:p>
        </p:txBody>
      </p:sp>
      <p:sp>
        <p:nvSpPr>
          <p:cNvPr id="45" name="Shape 43"/>
          <p:cNvSpPr/>
          <p:nvPr/>
        </p:nvSpPr>
        <p:spPr>
          <a:xfrm>
            <a:off x="7498080" y="2926080"/>
            <a:ext cx="1188720" cy="457200"/>
          </a:xfrm>
          <a:prstGeom prst="rect">
            <a:avLst/>
          </a:prstGeom>
          <a:solidFill>
            <a:srgbClr val="FFFFFF"/>
          </a:solidFill>
          <a:ln w="6350">
            <a:solidFill>
              <a:srgbClr val="CFD4E6"/>
            </a:solidFill>
            <a:prstDash val="solid"/>
          </a:ln>
        </p:spPr>
      </p:sp>
      <p:sp>
        <p:nvSpPr>
          <p:cNvPr id="46" name="Text 44"/>
          <p:cNvSpPr/>
          <p:nvPr/>
        </p:nvSpPr>
        <p:spPr>
          <a:xfrm>
            <a:off x="7589520" y="3035808"/>
            <a:ext cx="1005840" cy="274320"/>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Low</a:t>
            </a:r>
            <a:endParaRPr lang="en-US" sz="1000" dirty="0"/>
          </a:p>
        </p:txBody>
      </p:sp>
      <p:sp>
        <p:nvSpPr>
          <p:cNvPr id="47" name="Shape 45"/>
          <p:cNvSpPr/>
          <p:nvPr/>
        </p:nvSpPr>
        <p:spPr>
          <a:xfrm>
            <a:off x="457200" y="3429000"/>
            <a:ext cx="2011680" cy="457200"/>
          </a:xfrm>
          <a:prstGeom prst="rect">
            <a:avLst/>
          </a:prstGeom>
          <a:solidFill>
            <a:srgbClr val="FFFFFF"/>
          </a:solidFill>
          <a:ln w="6350">
            <a:solidFill>
              <a:srgbClr val="CFD4E6"/>
            </a:solidFill>
            <a:prstDash val="solid"/>
          </a:ln>
        </p:spPr>
      </p:sp>
      <p:sp>
        <p:nvSpPr>
          <p:cNvPr id="48" name="Text 46"/>
          <p:cNvSpPr/>
          <p:nvPr/>
        </p:nvSpPr>
        <p:spPr>
          <a:xfrm>
            <a:off x="548640" y="3538728"/>
            <a:ext cx="1828800" cy="274320"/>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Interview Warmup (G)</a:t>
            </a:r>
            <a:endParaRPr lang="en-US" sz="1000" dirty="0"/>
          </a:p>
        </p:txBody>
      </p:sp>
      <p:sp>
        <p:nvSpPr>
          <p:cNvPr id="49" name="Shape 47"/>
          <p:cNvSpPr/>
          <p:nvPr/>
        </p:nvSpPr>
        <p:spPr>
          <a:xfrm>
            <a:off x="2468880" y="3429000"/>
            <a:ext cx="1554480" cy="457200"/>
          </a:xfrm>
          <a:prstGeom prst="rect">
            <a:avLst/>
          </a:prstGeom>
          <a:solidFill>
            <a:srgbClr val="FFFFFF"/>
          </a:solidFill>
          <a:ln w="6350">
            <a:solidFill>
              <a:srgbClr val="CFD4E6"/>
            </a:solidFill>
            <a:prstDash val="solid"/>
          </a:ln>
        </p:spPr>
      </p:sp>
      <p:sp>
        <p:nvSpPr>
          <p:cNvPr id="50" name="Text 48"/>
          <p:cNvSpPr/>
          <p:nvPr/>
        </p:nvSpPr>
        <p:spPr>
          <a:xfrm>
            <a:off x="2560320" y="3538728"/>
            <a:ext cx="1371600" cy="274320"/>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Voice</a:t>
            </a:r>
            <a:endParaRPr lang="en-US" sz="1000" dirty="0"/>
          </a:p>
        </p:txBody>
      </p:sp>
      <p:sp>
        <p:nvSpPr>
          <p:cNvPr id="51" name="Shape 49"/>
          <p:cNvSpPr/>
          <p:nvPr/>
        </p:nvSpPr>
        <p:spPr>
          <a:xfrm>
            <a:off x="4023360" y="3429000"/>
            <a:ext cx="2194560" cy="457200"/>
          </a:xfrm>
          <a:prstGeom prst="rect">
            <a:avLst/>
          </a:prstGeom>
          <a:solidFill>
            <a:srgbClr val="FFFFFF"/>
          </a:solidFill>
          <a:ln w="6350">
            <a:solidFill>
              <a:srgbClr val="CFD4E6"/>
            </a:solidFill>
            <a:prstDash val="solid"/>
          </a:ln>
        </p:spPr>
      </p:sp>
      <p:sp>
        <p:nvSpPr>
          <p:cNvPr id="52" name="Text 50"/>
          <p:cNvSpPr/>
          <p:nvPr/>
        </p:nvSpPr>
        <p:spPr>
          <a:xfrm>
            <a:off x="4114800" y="3538728"/>
            <a:ext cx="2011680" cy="274320"/>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Only transcript review</a:t>
            </a:r>
            <a:endParaRPr lang="en-US" sz="1000" dirty="0"/>
          </a:p>
        </p:txBody>
      </p:sp>
      <p:sp>
        <p:nvSpPr>
          <p:cNvPr id="53" name="Shape 51"/>
          <p:cNvSpPr/>
          <p:nvPr/>
        </p:nvSpPr>
        <p:spPr>
          <a:xfrm>
            <a:off x="6217920" y="3429000"/>
            <a:ext cx="1280160" cy="457200"/>
          </a:xfrm>
          <a:prstGeom prst="rect">
            <a:avLst/>
          </a:prstGeom>
          <a:solidFill>
            <a:srgbClr val="FFFFFF"/>
          </a:solidFill>
          <a:ln w="6350">
            <a:solidFill>
              <a:srgbClr val="CFD4E6"/>
            </a:solidFill>
            <a:prstDash val="solid"/>
          </a:ln>
        </p:spPr>
      </p:sp>
      <p:sp>
        <p:nvSpPr>
          <p:cNvPr id="54" name="Text 52"/>
          <p:cNvSpPr/>
          <p:nvPr/>
        </p:nvSpPr>
        <p:spPr>
          <a:xfrm>
            <a:off x="6309360" y="3538728"/>
            <a:ext cx="1097280" cy="274320"/>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No</a:t>
            </a:r>
            <a:endParaRPr lang="en-US" sz="1000" dirty="0"/>
          </a:p>
        </p:txBody>
      </p:sp>
      <p:sp>
        <p:nvSpPr>
          <p:cNvPr id="55" name="Shape 53"/>
          <p:cNvSpPr/>
          <p:nvPr/>
        </p:nvSpPr>
        <p:spPr>
          <a:xfrm>
            <a:off x="7498080" y="3429000"/>
            <a:ext cx="1188720" cy="457200"/>
          </a:xfrm>
          <a:prstGeom prst="rect">
            <a:avLst/>
          </a:prstGeom>
          <a:solidFill>
            <a:srgbClr val="FFFFFF"/>
          </a:solidFill>
          <a:ln w="6350">
            <a:solidFill>
              <a:srgbClr val="CFD4E6"/>
            </a:solidFill>
            <a:prstDash val="solid"/>
          </a:ln>
        </p:spPr>
      </p:sp>
      <p:sp>
        <p:nvSpPr>
          <p:cNvPr id="56" name="Text 54"/>
          <p:cNvSpPr/>
          <p:nvPr/>
        </p:nvSpPr>
        <p:spPr>
          <a:xfrm>
            <a:off x="7589520" y="3538728"/>
            <a:ext cx="1005840" cy="274320"/>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Free</a:t>
            </a:r>
            <a:endParaRPr lang="en-US" sz="1000" dirty="0"/>
          </a:p>
        </p:txBody>
      </p:sp>
      <p:sp>
        <p:nvSpPr>
          <p:cNvPr id="57" name="Shape 55"/>
          <p:cNvSpPr/>
          <p:nvPr/>
        </p:nvSpPr>
        <p:spPr>
          <a:xfrm>
            <a:off x="457200" y="3931920"/>
            <a:ext cx="2011680" cy="457200"/>
          </a:xfrm>
          <a:prstGeom prst="rect">
            <a:avLst/>
          </a:prstGeom>
          <a:solidFill>
            <a:srgbClr val="EEF1F9"/>
          </a:solidFill>
          <a:ln w="6350">
            <a:solidFill>
              <a:srgbClr val="CFD4E6"/>
            </a:solidFill>
            <a:prstDash val="solid"/>
          </a:ln>
        </p:spPr>
      </p:sp>
      <p:sp>
        <p:nvSpPr>
          <p:cNvPr id="58" name="Text 56"/>
          <p:cNvSpPr/>
          <p:nvPr/>
        </p:nvSpPr>
        <p:spPr>
          <a:xfrm>
            <a:off x="548640" y="4041648"/>
            <a:ext cx="1828800" cy="274320"/>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This work</a:t>
            </a:r>
            <a:endParaRPr lang="en-US" sz="1000" dirty="0"/>
          </a:p>
        </p:txBody>
      </p:sp>
      <p:sp>
        <p:nvSpPr>
          <p:cNvPr id="59" name="Shape 57"/>
          <p:cNvSpPr/>
          <p:nvPr/>
        </p:nvSpPr>
        <p:spPr>
          <a:xfrm>
            <a:off x="2468880" y="3931920"/>
            <a:ext cx="1554480" cy="457200"/>
          </a:xfrm>
          <a:prstGeom prst="rect">
            <a:avLst/>
          </a:prstGeom>
          <a:solidFill>
            <a:srgbClr val="EEF1F9"/>
          </a:solidFill>
          <a:ln w="6350">
            <a:solidFill>
              <a:srgbClr val="CFD4E6"/>
            </a:solidFill>
            <a:prstDash val="solid"/>
          </a:ln>
        </p:spPr>
      </p:sp>
      <p:sp>
        <p:nvSpPr>
          <p:cNvPr id="60" name="Text 58"/>
          <p:cNvSpPr/>
          <p:nvPr/>
        </p:nvSpPr>
        <p:spPr>
          <a:xfrm>
            <a:off x="2560320" y="4041648"/>
            <a:ext cx="1371600" cy="274320"/>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Voice + camera</a:t>
            </a:r>
            <a:endParaRPr lang="en-US" sz="1000" dirty="0"/>
          </a:p>
        </p:txBody>
      </p:sp>
      <p:sp>
        <p:nvSpPr>
          <p:cNvPr id="61" name="Shape 59"/>
          <p:cNvSpPr/>
          <p:nvPr/>
        </p:nvSpPr>
        <p:spPr>
          <a:xfrm>
            <a:off x="4023360" y="3931920"/>
            <a:ext cx="2194560" cy="457200"/>
          </a:xfrm>
          <a:prstGeom prst="rect">
            <a:avLst/>
          </a:prstGeom>
          <a:solidFill>
            <a:srgbClr val="EEF1F9"/>
          </a:solidFill>
          <a:ln w="6350">
            <a:solidFill>
              <a:srgbClr val="CFD4E6"/>
            </a:solidFill>
            <a:prstDash val="solid"/>
          </a:ln>
        </p:spPr>
      </p:sp>
      <p:sp>
        <p:nvSpPr>
          <p:cNvPr id="62" name="Text 60"/>
          <p:cNvSpPr/>
          <p:nvPr/>
        </p:nvSpPr>
        <p:spPr>
          <a:xfrm>
            <a:off x="4114800" y="4041648"/>
            <a:ext cx="2011680" cy="274320"/>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LLM + RAG + MediaPipe</a:t>
            </a:r>
            <a:endParaRPr lang="en-US" sz="1000" dirty="0"/>
          </a:p>
        </p:txBody>
      </p:sp>
      <p:sp>
        <p:nvSpPr>
          <p:cNvPr id="63" name="Shape 61"/>
          <p:cNvSpPr/>
          <p:nvPr/>
        </p:nvSpPr>
        <p:spPr>
          <a:xfrm>
            <a:off x="6217920" y="3931920"/>
            <a:ext cx="1280160" cy="457200"/>
          </a:xfrm>
          <a:prstGeom prst="rect">
            <a:avLst/>
          </a:prstGeom>
          <a:solidFill>
            <a:srgbClr val="EEF1F9"/>
          </a:solidFill>
          <a:ln w="6350">
            <a:solidFill>
              <a:srgbClr val="CFD4E6"/>
            </a:solidFill>
            <a:prstDash val="solid"/>
          </a:ln>
        </p:spPr>
      </p:sp>
      <p:sp>
        <p:nvSpPr>
          <p:cNvPr id="64" name="Text 62"/>
          <p:cNvSpPr/>
          <p:nvPr/>
        </p:nvSpPr>
        <p:spPr>
          <a:xfrm>
            <a:off x="6309360" y="4041648"/>
            <a:ext cx="1097280" cy="274320"/>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Yes</a:t>
            </a:r>
            <a:endParaRPr lang="en-US" sz="1000" dirty="0"/>
          </a:p>
        </p:txBody>
      </p:sp>
      <p:sp>
        <p:nvSpPr>
          <p:cNvPr id="65" name="Shape 63"/>
          <p:cNvSpPr/>
          <p:nvPr/>
        </p:nvSpPr>
        <p:spPr>
          <a:xfrm>
            <a:off x="7498080" y="3931920"/>
            <a:ext cx="1188720" cy="457200"/>
          </a:xfrm>
          <a:prstGeom prst="rect">
            <a:avLst/>
          </a:prstGeom>
          <a:solidFill>
            <a:srgbClr val="EEF1F9"/>
          </a:solidFill>
          <a:ln w="6350">
            <a:solidFill>
              <a:srgbClr val="CFD4E6"/>
            </a:solidFill>
            <a:prstDash val="solid"/>
          </a:ln>
        </p:spPr>
      </p:sp>
      <p:sp>
        <p:nvSpPr>
          <p:cNvPr id="66" name="Text 64"/>
          <p:cNvSpPr/>
          <p:nvPr/>
        </p:nvSpPr>
        <p:spPr>
          <a:xfrm>
            <a:off x="7589520" y="4041648"/>
            <a:ext cx="1005840" cy="274320"/>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Free</a:t>
            </a:r>
            <a:endParaRPr lang="en-US" sz="1000" dirty="0"/>
          </a:p>
        </p:txBody>
      </p:sp>
      <p:sp>
        <p:nvSpPr>
          <p:cNvPr id="67" name="Shape 65"/>
          <p:cNvSpPr/>
          <p:nvPr/>
        </p:nvSpPr>
        <p:spPr>
          <a:xfrm>
            <a:off x="457200" y="4480560"/>
            <a:ext cx="8229600" cy="274320"/>
          </a:xfrm>
          <a:prstGeom prst="rect">
            <a:avLst/>
          </a:prstGeom>
          <a:solidFill>
            <a:srgbClr val="B5651D">
              <a:alpha val="30000"/>
            </a:srgbClr>
          </a:solidFill>
          <a:ln w="12700">
            <a:solidFill>
              <a:srgbClr val="B5651D">
                <a:alpha val="50000"/>
              </a:srgbClr>
            </a:solidFill>
            <a:prstDash val="solid"/>
          </a:ln>
        </p:spPr>
      </p:sp>
      <p:sp>
        <p:nvSpPr>
          <p:cNvPr id="68" name="Text 66"/>
          <p:cNvSpPr/>
          <p:nvPr/>
        </p:nvSpPr>
        <p:spPr>
          <a:xfrm>
            <a:off x="594360" y="4507992"/>
            <a:ext cx="8046720" cy="228600"/>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Research Gap: </a:t>
            </a:r>
            <a:pPr indent="0" marL="0">
              <a:buNone/>
            </a:pPr>
            <a:r>
              <a:rPr lang="en-US" sz="1000" i="1" dirty="0">
                <a:solidFill>
                  <a:srgbClr val="1E2761"/>
                </a:solidFill>
                <a:latin typeface="Calibri" pitchFamily="34" charset="0"/>
                <a:ea typeface="Calibri" pitchFamily="34" charset="-122"/>
                <a:cs typeface="Calibri" pitchFamily="34" charset="-120"/>
              </a:rPr>
              <a:t>No existing tool combines resume-aware LLM questions with real-time multimodal coaching.</a:t>
            </a:r>
            <a:endParaRPr lang="en-US" sz="1000" dirty="0"/>
          </a:p>
        </p:txBody>
      </p:sp>
      <p:sp>
        <p:nvSpPr>
          <p:cNvPr id="69" name="Shape 67"/>
          <p:cNvSpPr/>
          <p:nvPr/>
        </p:nvSpPr>
        <p:spPr>
          <a:xfrm>
            <a:off x="0" y="4937760"/>
            <a:ext cx="9144000" cy="27432"/>
          </a:xfrm>
          <a:prstGeom prst="rect">
            <a:avLst/>
          </a:prstGeom>
          <a:solidFill>
            <a:srgbClr val="CFD4E6"/>
          </a:solidFill>
          <a:ln w="12700">
            <a:solidFill>
              <a:srgbClr val="CFD4E6"/>
            </a:solidFill>
            <a:prstDash val="solid"/>
          </a:ln>
        </p:spPr>
      </p:sp>
      <p:sp>
        <p:nvSpPr>
          <p:cNvPr id="70" name="Text 68"/>
          <p:cNvSpPr/>
          <p:nvPr/>
        </p:nvSpPr>
        <p:spPr>
          <a:xfrm>
            <a:off x="457200" y="4965192"/>
            <a:ext cx="6400800" cy="182880"/>
          </a:xfrm>
          <a:prstGeom prst="rect">
            <a:avLst/>
          </a:prstGeom>
          <a:noFill/>
          <a:ln/>
        </p:spPr>
        <p:txBody>
          <a:bodyPr wrap="square" lIns="0" tIns="0" rIns="0" bIns="0" rtlCol="0" anchor="ctr"/>
          <a:lstStyle/>
          <a:p>
            <a:pPr indent="0" marL="0">
              <a:buNone/>
            </a:pPr>
            <a:r>
              <a:rPr lang="en-US" sz="900" dirty="0">
                <a:solidFill>
                  <a:srgbClr val="5C6B95"/>
                </a:solidFill>
                <a:latin typeface="Calibri" pitchFamily="34" charset="0"/>
                <a:ea typeface="Calibri" pitchFamily="34" charset="-122"/>
                <a:cs typeface="Calibri" pitchFamily="34" charset="-120"/>
              </a:rPr>
              <a:t>AI Interview Platform · Project Report</a:t>
            </a:r>
            <a:endParaRPr lang="en-US" sz="900" dirty="0"/>
          </a:p>
        </p:txBody>
      </p:sp>
      <p:sp>
        <p:nvSpPr>
          <p:cNvPr id="71" name="Text 69"/>
          <p:cNvSpPr/>
          <p:nvPr/>
        </p:nvSpPr>
        <p:spPr>
          <a:xfrm>
            <a:off x="8412480" y="4965192"/>
            <a:ext cx="365760" cy="182880"/>
          </a:xfrm>
          <a:prstGeom prst="rect">
            <a:avLst/>
          </a:prstGeom>
          <a:noFill/>
          <a:ln/>
        </p:spPr>
        <p:txBody>
          <a:bodyPr wrap="square" lIns="0" tIns="0" rIns="0" bIns="0" rtlCol="0" anchor="ctr"/>
          <a:lstStyle/>
          <a:p>
            <a:pPr algn="r" indent="0" marL="0">
              <a:buNone/>
            </a:pPr>
            <a:r>
              <a:rPr lang="en-US" sz="900" dirty="0">
                <a:solidFill>
                  <a:srgbClr val="5C6B9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457200" y="411480"/>
            <a:ext cx="411480" cy="320040"/>
          </a:xfrm>
          <a:prstGeom prst="rect">
            <a:avLst/>
          </a:prstGeom>
          <a:solidFill>
            <a:srgbClr val="1E2761"/>
          </a:solidFill>
          <a:ln w="12700">
            <a:solidFill>
              <a:srgbClr val="1E2761"/>
            </a:solidFill>
            <a:prstDash val="solid"/>
          </a:ln>
        </p:spPr>
      </p:sp>
      <p:sp>
        <p:nvSpPr>
          <p:cNvPr id="3" name="Text 1"/>
          <p:cNvSpPr/>
          <p:nvPr/>
        </p:nvSpPr>
        <p:spPr>
          <a:xfrm>
            <a:off x="457200" y="411480"/>
            <a:ext cx="4114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04</a:t>
            </a:r>
            <a:endParaRPr lang="en-US" sz="1400" dirty="0"/>
          </a:p>
        </p:txBody>
      </p:sp>
      <p:sp>
        <p:nvSpPr>
          <p:cNvPr id="4" name="Text 2"/>
          <p:cNvSpPr/>
          <p:nvPr/>
        </p:nvSpPr>
        <p:spPr>
          <a:xfrm>
            <a:off x="1005840" y="365760"/>
            <a:ext cx="822960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Software Requirements</a:t>
            </a:r>
            <a:endParaRPr lang="en-US" sz="2600" dirty="0"/>
          </a:p>
        </p:txBody>
      </p:sp>
      <p:sp>
        <p:nvSpPr>
          <p:cNvPr id="5" name="Shape 3"/>
          <p:cNvSpPr/>
          <p:nvPr/>
        </p:nvSpPr>
        <p:spPr>
          <a:xfrm>
            <a:off x="1005840" y="896112"/>
            <a:ext cx="548640" cy="36576"/>
          </a:xfrm>
          <a:prstGeom prst="rect">
            <a:avLst/>
          </a:prstGeom>
          <a:solidFill>
            <a:srgbClr val="B5651D"/>
          </a:solidFill>
          <a:ln w="12700">
            <a:solidFill>
              <a:srgbClr val="B5651D"/>
            </a:solidFill>
            <a:prstDash val="solid"/>
          </a:ln>
        </p:spPr>
      </p:sp>
      <p:sp>
        <p:nvSpPr>
          <p:cNvPr id="6" name="Text 4"/>
          <p:cNvSpPr/>
          <p:nvPr/>
        </p:nvSpPr>
        <p:spPr>
          <a:xfrm>
            <a:off x="1005840" y="960120"/>
            <a:ext cx="8229600" cy="274320"/>
          </a:xfrm>
          <a:prstGeom prst="rect">
            <a:avLst/>
          </a:prstGeom>
          <a:noFill/>
          <a:ln/>
        </p:spPr>
        <p:txBody>
          <a:bodyPr wrap="square" lIns="0" tIns="0" rIns="0" bIns="0" rtlCol="0" anchor="ctr"/>
          <a:lstStyle/>
          <a:p>
            <a:pPr indent="0" marL="0">
              <a:buNone/>
            </a:pPr>
            <a:r>
              <a:rPr lang="en-US" sz="1200" i="1" dirty="0">
                <a:solidFill>
                  <a:srgbClr val="5C6B95"/>
                </a:solidFill>
                <a:latin typeface="Calibri" pitchFamily="34" charset="0"/>
                <a:ea typeface="Calibri" pitchFamily="34" charset="-122"/>
                <a:cs typeface="Calibri" pitchFamily="34" charset="-120"/>
              </a:rPr>
              <a:t>Functional and non-functional</a:t>
            </a:r>
            <a:endParaRPr lang="en-US" sz="1200" dirty="0"/>
          </a:p>
        </p:txBody>
      </p:sp>
      <p:sp>
        <p:nvSpPr>
          <p:cNvPr id="7" name="Shape 5"/>
          <p:cNvSpPr/>
          <p:nvPr/>
        </p:nvSpPr>
        <p:spPr>
          <a:xfrm>
            <a:off x="457200" y="1417320"/>
            <a:ext cx="4023360" cy="3246120"/>
          </a:xfrm>
          <a:prstGeom prst="rect">
            <a:avLst/>
          </a:prstGeom>
          <a:solidFill>
            <a:srgbClr val="FFFFFF"/>
          </a:solidFill>
          <a:ln w="12700">
            <a:solidFill>
              <a:srgbClr val="1E2761"/>
            </a:solidFill>
            <a:prstDash val="solid"/>
          </a:ln>
        </p:spPr>
      </p:sp>
      <p:sp>
        <p:nvSpPr>
          <p:cNvPr id="8" name="Shape 6"/>
          <p:cNvSpPr/>
          <p:nvPr/>
        </p:nvSpPr>
        <p:spPr>
          <a:xfrm>
            <a:off x="457200" y="1417320"/>
            <a:ext cx="4023360" cy="365760"/>
          </a:xfrm>
          <a:prstGeom prst="rect">
            <a:avLst/>
          </a:prstGeom>
          <a:solidFill>
            <a:srgbClr val="1E2761"/>
          </a:solidFill>
          <a:ln w="12700">
            <a:solidFill>
              <a:srgbClr val="1E2761"/>
            </a:solidFill>
            <a:prstDash val="solid"/>
          </a:ln>
        </p:spPr>
      </p:sp>
      <p:sp>
        <p:nvSpPr>
          <p:cNvPr id="9" name="Text 7"/>
          <p:cNvSpPr/>
          <p:nvPr/>
        </p:nvSpPr>
        <p:spPr>
          <a:xfrm>
            <a:off x="594360" y="14630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4.1 Functional Requirements</a:t>
            </a:r>
            <a:endParaRPr lang="en-US" sz="1200" dirty="0"/>
          </a:p>
        </p:txBody>
      </p:sp>
      <p:sp>
        <p:nvSpPr>
          <p:cNvPr id="10" name="Text 8"/>
          <p:cNvSpPr/>
          <p:nvPr/>
        </p:nvSpPr>
        <p:spPr>
          <a:xfrm>
            <a:off x="640080" y="1874520"/>
            <a:ext cx="3749040" cy="301752"/>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FR1 — User registration with email verification</a:t>
            </a:r>
            <a:endParaRPr lang="en-US" sz="1100" dirty="0"/>
          </a:p>
        </p:txBody>
      </p:sp>
      <p:sp>
        <p:nvSpPr>
          <p:cNvPr id="11" name="Text 9"/>
          <p:cNvSpPr/>
          <p:nvPr/>
        </p:nvSpPr>
        <p:spPr>
          <a:xfrm>
            <a:off x="640080" y="2212848"/>
            <a:ext cx="3749040" cy="301752"/>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FR2 — Secure login with session token</a:t>
            </a:r>
            <a:endParaRPr lang="en-US" sz="1100" dirty="0"/>
          </a:p>
        </p:txBody>
      </p:sp>
      <p:sp>
        <p:nvSpPr>
          <p:cNvPr id="12" name="Text 10"/>
          <p:cNvSpPr/>
          <p:nvPr/>
        </p:nvSpPr>
        <p:spPr>
          <a:xfrm>
            <a:off x="640080" y="2551176"/>
            <a:ext cx="3749040" cy="301752"/>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FR3 — Resume upload and skill extraction</a:t>
            </a:r>
            <a:endParaRPr lang="en-US" sz="1100" dirty="0"/>
          </a:p>
        </p:txBody>
      </p:sp>
      <p:sp>
        <p:nvSpPr>
          <p:cNvPr id="13" name="Text 11"/>
          <p:cNvSpPr/>
          <p:nvPr/>
        </p:nvSpPr>
        <p:spPr>
          <a:xfrm>
            <a:off x="640080" y="2889504"/>
            <a:ext cx="3749040" cy="301752"/>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FR4 — Interview setup (mode, role, duration)</a:t>
            </a:r>
            <a:endParaRPr lang="en-US" sz="1100" dirty="0"/>
          </a:p>
        </p:txBody>
      </p:sp>
      <p:sp>
        <p:nvSpPr>
          <p:cNvPr id="14" name="Text 12"/>
          <p:cNvSpPr/>
          <p:nvPr/>
        </p:nvSpPr>
        <p:spPr>
          <a:xfrm>
            <a:off x="640080" y="3227832"/>
            <a:ext cx="3749040" cy="301752"/>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FR5 — Dynamic question generation via LLM</a:t>
            </a:r>
            <a:endParaRPr lang="en-US" sz="1100" dirty="0"/>
          </a:p>
        </p:txBody>
      </p:sp>
      <p:sp>
        <p:nvSpPr>
          <p:cNvPr id="15" name="Text 13"/>
          <p:cNvSpPr/>
          <p:nvPr/>
        </p:nvSpPr>
        <p:spPr>
          <a:xfrm>
            <a:off x="640080" y="3566160"/>
            <a:ext cx="3749040" cy="301752"/>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FR6 — Voice-based candidate interaction</a:t>
            </a:r>
            <a:endParaRPr lang="en-US" sz="1100" dirty="0"/>
          </a:p>
        </p:txBody>
      </p:sp>
      <p:sp>
        <p:nvSpPr>
          <p:cNvPr id="16" name="Text 14"/>
          <p:cNvSpPr/>
          <p:nvPr/>
        </p:nvSpPr>
        <p:spPr>
          <a:xfrm>
            <a:off x="640080" y="3904488"/>
            <a:ext cx="3749040" cy="301752"/>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FR7 — Real-time camera-based feedback</a:t>
            </a:r>
            <a:endParaRPr lang="en-US" sz="1100" dirty="0"/>
          </a:p>
        </p:txBody>
      </p:sp>
      <p:sp>
        <p:nvSpPr>
          <p:cNvPr id="17" name="Text 15"/>
          <p:cNvSpPr/>
          <p:nvPr/>
        </p:nvSpPr>
        <p:spPr>
          <a:xfrm>
            <a:off x="640080" y="4242816"/>
            <a:ext cx="3749040" cy="301752"/>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FR8 — Automated answer scoring and report</a:t>
            </a:r>
            <a:endParaRPr lang="en-US" sz="1100" dirty="0"/>
          </a:p>
        </p:txBody>
      </p:sp>
      <p:sp>
        <p:nvSpPr>
          <p:cNvPr id="18" name="Shape 16"/>
          <p:cNvSpPr/>
          <p:nvPr/>
        </p:nvSpPr>
        <p:spPr>
          <a:xfrm>
            <a:off x="4663440" y="1417320"/>
            <a:ext cx="4023360" cy="3246120"/>
          </a:xfrm>
          <a:prstGeom prst="rect">
            <a:avLst/>
          </a:prstGeom>
          <a:solidFill>
            <a:srgbClr val="FFFFFF"/>
          </a:solidFill>
          <a:ln w="12700">
            <a:solidFill>
              <a:srgbClr val="1E2761"/>
            </a:solidFill>
            <a:prstDash val="solid"/>
          </a:ln>
        </p:spPr>
      </p:sp>
      <p:sp>
        <p:nvSpPr>
          <p:cNvPr id="19" name="Shape 17"/>
          <p:cNvSpPr/>
          <p:nvPr/>
        </p:nvSpPr>
        <p:spPr>
          <a:xfrm>
            <a:off x="4663440" y="1417320"/>
            <a:ext cx="4023360" cy="365760"/>
          </a:xfrm>
          <a:prstGeom prst="rect">
            <a:avLst/>
          </a:prstGeom>
          <a:solidFill>
            <a:srgbClr val="1E2761"/>
          </a:solidFill>
          <a:ln w="12700">
            <a:solidFill>
              <a:srgbClr val="1E2761"/>
            </a:solidFill>
            <a:prstDash val="solid"/>
          </a:ln>
        </p:spPr>
      </p:sp>
      <p:sp>
        <p:nvSpPr>
          <p:cNvPr id="20" name="Text 18"/>
          <p:cNvSpPr/>
          <p:nvPr/>
        </p:nvSpPr>
        <p:spPr>
          <a:xfrm>
            <a:off x="4800600" y="1463040"/>
            <a:ext cx="3749040" cy="27432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4.2 Non-Functional Requirements</a:t>
            </a:r>
            <a:endParaRPr lang="en-US" sz="1200" dirty="0"/>
          </a:p>
        </p:txBody>
      </p:sp>
      <p:sp>
        <p:nvSpPr>
          <p:cNvPr id="21" name="Text 19"/>
          <p:cNvSpPr/>
          <p:nvPr/>
        </p:nvSpPr>
        <p:spPr>
          <a:xfrm>
            <a:off x="4846320" y="1874520"/>
            <a:ext cx="3749040" cy="301752"/>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NFR1 — TTS response under 3 seconds</a:t>
            </a:r>
            <a:endParaRPr lang="en-US" sz="1100" dirty="0"/>
          </a:p>
        </p:txBody>
      </p:sp>
      <p:sp>
        <p:nvSpPr>
          <p:cNvPr id="22" name="Text 20"/>
          <p:cNvSpPr/>
          <p:nvPr/>
        </p:nvSpPr>
        <p:spPr>
          <a:xfrm>
            <a:off x="4846320" y="2212848"/>
            <a:ext cx="3749040" cy="301752"/>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NFR2 — Passwords hashed using Argon2id</a:t>
            </a:r>
            <a:endParaRPr lang="en-US" sz="1100" dirty="0"/>
          </a:p>
        </p:txBody>
      </p:sp>
      <p:sp>
        <p:nvSpPr>
          <p:cNvPr id="23" name="Text 21"/>
          <p:cNvSpPr/>
          <p:nvPr/>
        </p:nvSpPr>
        <p:spPr>
          <a:xfrm>
            <a:off x="4846320" y="2551176"/>
            <a:ext cx="3749040" cy="301752"/>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NFR3 — Stateless JWT-based authentication</a:t>
            </a:r>
            <a:endParaRPr lang="en-US" sz="1100" dirty="0"/>
          </a:p>
        </p:txBody>
      </p:sp>
      <p:sp>
        <p:nvSpPr>
          <p:cNvPr id="24" name="Text 22"/>
          <p:cNvSpPr/>
          <p:nvPr/>
        </p:nvSpPr>
        <p:spPr>
          <a:xfrm>
            <a:off x="4846320" y="2889504"/>
            <a:ext cx="3749040" cy="301752"/>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NFR4 — Graceful fallback if Redis is down</a:t>
            </a:r>
            <a:endParaRPr lang="en-US" sz="1100" dirty="0"/>
          </a:p>
        </p:txBody>
      </p:sp>
      <p:sp>
        <p:nvSpPr>
          <p:cNvPr id="25" name="Text 23"/>
          <p:cNvSpPr/>
          <p:nvPr/>
        </p:nvSpPr>
        <p:spPr>
          <a:xfrm>
            <a:off x="4846320" y="3227832"/>
            <a:ext cx="3749040" cy="301752"/>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NFR5 — Dark mode and responsive layout</a:t>
            </a:r>
            <a:endParaRPr lang="en-US" sz="1100" dirty="0"/>
          </a:p>
        </p:txBody>
      </p:sp>
      <p:sp>
        <p:nvSpPr>
          <p:cNvPr id="26" name="Text 24"/>
          <p:cNvSpPr/>
          <p:nvPr/>
        </p:nvSpPr>
        <p:spPr>
          <a:xfrm>
            <a:off x="4846320" y="3566160"/>
            <a:ext cx="3749040" cy="301752"/>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NFR6 — Auto-save of user answers</a:t>
            </a:r>
            <a:endParaRPr lang="en-US" sz="1100" dirty="0"/>
          </a:p>
        </p:txBody>
      </p:sp>
      <p:sp>
        <p:nvSpPr>
          <p:cNvPr id="27" name="Text 25"/>
          <p:cNvSpPr/>
          <p:nvPr/>
        </p:nvSpPr>
        <p:spPr>
          <a:xfrm>
            <a:off x="4846320" y="3904488"/>
            <a:ext cx="3749040" cy="301752"/>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NFR7 — User can delete account and data</a:t>
            </a:r>
            <a:endParaRPr lang="en-US" sz="1100" dirty="0"/>
          </a:p>
        </p:txBody>
      </p:sp>
      <p:sp>
        <p:nvSpPr>
          <p:cNvPr id="28" name="Text 26"/>
          <p:cNvSpPr/>
          <p:nvPr/>
        </p:nvSpPr>
        <p:spPr>
          <a:xfrm>
            <a:off x="4846320" y="4242816"/>
            <a:ext cx="3749040" cy="301752"/>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NFR8 — HTTPS-only on all deployments</a:t>
            </a:r>
            <a:endParaRPr lang="en-US" sz="1100" dirty="0"/>
          </a:p>
        </p:txBody>
      </p:sp>
      <p:sp>
        <p:nvSpPr>
          <p:cNvPr id="29" name="Shape 27"/>
          <p:cNvSpPr/>
          <p:nvPr/>
        </p:nvSpPr>
        <p:spPr>
          <a:xfrm>
            <a:off x="0" y="4937760"/>
            <a:ext cx="9144000" cy="27432"/>
          </a:xfrm>
          <a:prstGeom prst="rect">
            <a:avLst/>
          </a:prstGeom>
          <a:solidFill>
            <a:srgbClr val="CFD4E6"/>
          </a:solidFill>
          <a:ln w="12700">
            <a:solidFill>
              <a:srgbClr val="CFD4E6"/>
            </a:solidFill>
            <a:prstDash val="solid"/>
          </a:ln>
        </p:spPr>
      </p:sp>
      <p:sp>
        <p:nvSpPr>
          <p:cNvPr id="30" name="Text 28"/>
          <p:cNvSpPr/>
          <p:nvPr/>
        </p:nvSpPr>
        <p:spPr>
          <a:xfrm>
            <a:off x="457200" y="4965192"/>
            <a:ext cx="6400800" cy="182880"/>
          </a:xfrm>
          <a:prstGeom prst="rect">
            <a:avLst/>
          </a:prstGeom>
          <a:noFill/>
          <a:ln/>
        </p:spPr>
        <p:txBody>
          <a:bodyPr wrap="square" lIns="0" tIns="0" rIns="0" bIns="0" rtlCol="0" anchor="ctr"/>
          <a:lstStyle/>
          <a:p>
            <a:pPr indent="0" marL="0">
              <a:buNone/>
            </a:pPr>
            <a:r>
              <a:rPr lang="en-US" sz="900" dirty="0">
                <a:solidFill>
                  <a:srgbClr val="5C6B95"/>
                </a:solidFill>
                <a:latin typeface="Calibri" pitchFamily="34" charset="0"/>
                <a:ea typeface="Calibri" pitchFamily="34" charset="-122"/>
                <a:cs typeface="Calibri" pitchFamily="34" charset="-120"/>
              </a:rPr>
              <a:t>AI Interview Platform · Project Report</a:t>
            </a:r>
            <a:endParaRPr lang="en-US" sz="900" dirty="0"/>
          </a:p>
        </p:txBody>
      </p:sp>
      <p:sp>
        <p:nvSpPr>
          <p:cNvPr id="31" name="Text 29"/>
          <p:cNvSpPr/>
          <p:nvPr/>
        </p:nvSpPr>
        <p:spPr>
          <a:xfrm>
            <a:off x="8412480" y="4965192"/>
            <a:ext cx="365760" cy="182880"/>
          </a:xfrm>
          <a:prstGeom prst="rect">
            <a:avLst/>
          </a:prstGeom>
          <a:noFill/>
          <a:ln/>
        </p:spPr>
        <p:txBody>
          <a:bodyPr wrap="square" lIns="0" tIns="0" rIns="0" bIns="0" rtlCol="0" anchor="ctr"/>
          <a:lstStyle/>
          <a:p>
            <a:pPr algn="r" indent="0" marL="0">
              <a:buNone/>
            </a:pPr>
            <a:r>
              <a:rPr lang="en-US" sz="900" dirty="0">
                <a:solidFill>
                  <a:srgbClr val="5C6B9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457200" y="411480"/>
            <a:ext cx="411480" cy="320040"/>
          </a:xfrm>
          <a:prstGeom prst="rect">
            <a:avLst/>
          </a:prstGeom>
          <a:solidFill>
            <a:srgbClr val="1E2761"/>
          </a:solidFill>
          <a:ln w="12700">
            <a:solidFill>
              <a:srgbClr val="1E2761"/>
            </a:solidFill>
            <a:prstDash val="solid"/>
          </a:ln>
        </p:spPr>
      </p:sp>
      <p:sp>
        <p:nvSpPr>
          <p:cNvPr id="3" name="Text 1"/>
          <p:cNvSpPr/>
          <p:nvPr/>
        </p:nvSpPr>
        <p:spPr>
          <a:xfrm>
            <a:off x="457200" y="411480"/>
            <a:ext cx="4114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05</a:t>
            </a:r>
            <a:endParaRPr lang="en-US" sz="1400" dirty="0"/>
          </a:p>
        </p:txBody>
      </p:sp>
      <p:sp>
        <p:nvSpPr>
          <p:cNvPr id="4" name="Text 2"/>
          <p:cNvSpPr/>
          <p:nvPr/>
        </p:nvSpPr>
        <p:spPr>
          <a:xfrm>
            <a:off x="1005840" y="365760"/>
            <a:ext cx="822960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System Design</a:t>
            </a:r>
            <a:endParaRPr lang="en-US" sz="2600" dirty="0"/>
          </a:p>
        </p:txBody>
      </p:sp>
      <p:sp>
        <p:nvSpPr>
          <p:cNvPr id="5" name="Shape 3"/>
          <p:cNvSpPr/>
          <p:nvPr/>
        </p:nvSpPr>
        <p:spPr>
          <a:xfrm>
            <a:off x="1005840" y="896112"/>
            <a:ext cx="548640" cy="36576"/>
          </a:xfrm>
          <a:prstGeom prst="rect">
            <a:avLst/>
          </a:prstGeom>
          <a:solidFill>
            <a:srgbClr val="B5651D"/>
          </a:solidFill>
          <a:ln w="12700">
            <a:solidFill>
              <a:srgbClr val="B5651D"/>
            </a:solidFill>
            <a:prstDash val="solid"/>
          </a:ln>
        </p:spPr>
      </p:sp>
      <p:sp>
        <p:nvSpPr>
          <p:cNvPr id="6" name="Text 4"/>
          <p:cNvSpPr/>
          <p:nvPr/>
        </p:nvSpPr>
        <p:spPr>
          <a:xfrm>
            <a:off x="1005840" y="960120"/>
            <a:ext cx="8229600" cy="274320"/>
          </a:xfrm>
          <a:prstGeom prst="rect">
            <a:avLst/>
          </a:prstGeom>
          <a:noFill/>
          <a:ln/>
        </p:spPr>
        <p:txBody>
          <a:bodyPr wrap="square" lIns="0" tIns="0" rIns="0" bIns="0" rtlCol="0" anchor="ctr"/>
          <a:lstStyle/>
          <a:p>
            <a:pPr indent="0" marL="0">
              <a:buNone/>
            </a:pPr>
            <a:r>
              <a:rPr lang="en-US" sz="1200" i="1" dirty="0">
                <a:solidFill>
                  <a:srgbClr val="5C6B95"/>
                </a:solidFill>
                <a:latin typeface="Calibri" pitchFamily="34" charset="0"/>
                <a:ea typeface="Calibri" pitchFamily="34" charset="-122"/>
                <a:cs typeface="Calibri" pitchFamily="34" charset="-120"/>
              </a:rPr>
              <a:t>High-level architecture diagram</a:t>
            </a:r>
            <a:endParaRPr lang="en-US" sz="1200" dirty="0"/>
          </a:p>
        </p:txBody>
      </p:sp>
      <p:sp>
        <p:nvSpPr>
          <p:cNvPr id="7" name="Shape 5"/>
          <p:cNvSpPr/>
          <p:nvPr/>
        </p:nvSpPr>
        <p:spPr>
          <a:xfrm>
            <a:off x="457200" y="1417320"/>
            <a:ext cx="2651760" cy="1508760"/>
          </a:xfrm>
          <a:prstGeom prst="rect">
            <a:avLst/>
          </a:prstGeom>
          <a:solidFill>
            <a:srgbClr val="FFFFFF"/>
          </a:solidFill>
          <a:ln w="12700">
            <a:solidFill>
              <a:srgbClr val="1E2761"/>
            </a:solidFill>
            <a:prstDash val="solid"/>
          </a:ln>
          <a:effectLst>
            <a:outerShdw sx="100000" sy="100000" kx="0" ky="0" algn="bl" rotWithShape="0" blurRad="127000" dist="38100" dir="8100000">
              <a:srgbClr val="000000">
                <a:alpha val="10000"/>
              </a:srgbClr>
            </a:outerShdw>
          </a:effectLst>
        </p:spPr>
      </p:sp>
      <p:sp>
        <p:nvSpPr>
          <p:cNvPr id="8" name="Shape 6"/>
          <p:cNvSpPr/>
          <p:nvPr/>
        </p:nvSpPr>
        <p:spPr>
          <a:xfrm>
            <a:off x="457200" y="1417320"/>
            <a:ext cx="2651760" cy="320040"/>
          </a:xfrm>
          <a:prstGeom prst="rect">
            <a:avLst/>
          </a:prstGeom>
          <a:solidFill>
            <a:srgbClr val="1E2761"/>
          </a:solidFill>
          <a:ln w="12700">
            <a:solidFill>
              <a:srgbClr val="1E2761"/>
            </a:solidFill>
            <a:prstDash val="solid"/>
          </a:ln>
        </p:spPr>
      </p:sp>
      <p:sp>
        <p:nvSpPr>
          <p:cNvPr id="9" name="Text 7"/>
          <p:cNvSpPr/>
          <p:nvPr/>
        </p:nvSpPr>
        <p:spPr>
          <a:xfrm>
            <a:off x="548640" y="1453896"/>
            <a:ext cx="2468880" cy="256032"/>
          </a:xfrm>
          <a:prstGeom prst="rect">
            <a:avLst/>
          </a:prstGeom>
          <a:noFill/>
          <a:ln/>
        </p:spPr>
        <p:txBody>
          <a:bodyPr wrap="square" lIns="0" tIns="0" rIns="0" bIns="0" rtlCol="0" anchor="ctr"/>
          <a:lstStyle/>
          <a:p>
            <a:pPr indent="0" marL="0">
              <a:buNone/>
            </a:pPr>
            <a:r>
              <a:rPr lang="en-US" sz="1100" b="1" dirty="0">
                <a:solidFill>
                  <a:srgbClr val="FFFFFF"/>
                </a:solidFill>
                <a:latin typeface="Georgia" pitchFamily="34" charset="0"/>
                <a:ea typeface="Georgia" pitchFamily="34" charset="-122"/>
                <a:cs typeface="Georgia" pitchFamily="34" charset="-120"/>
              </a:rPr>
              <a:t>Presentation Layer</a:t>
            </a:r>
            <a:endParaRPr lang="en-US" sz="1100" dirty="0"/>
          </a:p>
        </p:txBody>
      </p:sp>
      <p:sp>
        <p:nvSpPr>
          <p:cNvPr id="10" name="Text 8"/>
          <p:cNvSpPr/>
          <p:nvPr/>
        </p:nvSpPr>
        <p:spPr>
          <a:xfrm>
            <a:off x="594360" y="1828800"/>
            <a:ext cx="2468880" cy="256032"/>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  React 18</a:t>
            </a:r>
            <a:endParaRPr lang="en-US" sz="1000" dirty="0"/>
          </a:p>
        </p:txBody>
      </p:sp>
      <p:sp>
        <p:nvSpPr>
          <p:cNvPr id="11" name="Text 9"/>
          <p:cNvSpPr/>
          <p:nvPr/>
        </p:nvSpPr>
        <p:spPr>
          <a:xfrm>
            <a:off x="594360" y="2103120"/>
            <a:ext cx="2468880" cy="256032"/>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  Tailwind CSS</a:t>
            </a:r>
            <a:endParaRPr lang="en-US" sz="1000" dirty="0"/>
          </a:p>
        </p:txBody>
      </p:sp>
      <p:sp>
        <p:nvSpPr>
          <p:cNvPr id="12" name="Text 10"/>
          <p:cNvSpPr/>
          <p:nvPr/>
        </p:nvSpPr>
        <p:spPr>
          <a:xfrm>
            <a:off x="594360" y="2377440"/>
            <a:ext cx="2468880" cy="256032"/>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  Zustand</a:t>
            </a:r>
            <a:endParaRPr lang="en-US" sz="1000" dirty="0"/>
          </a:p>
        </p:txBody>
      </p:sp>
      <p:sp>
        <p:nvSpPr>
          <p:cNvPr id="13" name="Text 11"/>
          <p:cNvSpPr/>
          <p:nvPr/>
        </p:nvSpPr>
        <p:spPr>
          <a:xfrm>
            <a:off x="594360" y="2651760"/>
            <a:ext cx="2468880" cy="256032"/>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  WebSpeech / MediaPipe</a:t>
            </a:r>
            <a:endParaRPr lang="en-US" sz="1000" dirty="0"/>
          </a:p>
        </p:txBody>
      </p:sp>
      <p:sp>
        <p:nvSpPr>
          <p:cNvPr id="14" name="Shape 12"/>
          <p:cNvSpPr/>
          <p:nvPr/>
        </p:nvSpPr>
        <p:spPr>
          <a:xfrm>
            <a:off x="3246120" y="1417320"/>
            <a:ext cx="2651760" cy="1508760"/>
          </a:xfrm>
          <a:prstGeom prst="rect">
            <a:avLst/>
          </a:prstGeom>
          <a:solidFill>
            <a:srgbClr val="FFFFFF"/>
          </a:solidFill>
          <a:ln w="12700">
            <a:solidFill>
              <a:srgbClr val="1E2761"/>
            </a:solidFill>
            <a:prstDash val="solid"/>
          </a:ln>
          <a:effectLst>
            <a:outerShdw sx="100000" sy="100000" kx="0" ky="0" algn="bl" rotWithShape="0" blurRad="127000" dist="38100" dir="8100000">
              <a:srgbClr val="000000">
                <a:alpha val="10000"/>
              </a:srgbClr>
            </a:outerShdw>
          </a:effectLst>
        </p:spPr>
      </p:sp>
      <p:sp>
        <p:nvSpPr>
          <p:cNvPr id="15" name="Shape 13"/>
          <p:cNvSpPr/>
          <p:nvPr/>
        </p:nvSpPr>
        <p:spPr>
          <a:xfrm>
            <a:off x="3246120" y="1417320"/>
            <a:ext cx="2651760" cy="320040"/>
          </a:xfrm>
          <a:prstGeom prst="rect">
            <a:avLst/>
          </a:prstGeom>
          <a:solidFill>
            <a:srgbClr val="1E2761"/>
          </a:solidFill>
          <a:ln w="12700">
            <a:solidFill>
              <a:srgbClr val="1E2761"/>
            </a:solidFill>
            <a:prstDash val="solid"/>
          </a:ln>
        </p:spPr>
      </p:sp>
      <p:sp>
        <p:nvSpPr>
          <p:cNvPr id="16" name="Text 14"/>
          <p:cNvSpPr/>
          <p:nvPr/>
        </p:nvSpPr>
        <p:spPr>
          <a:xfrm>
            <a:off x="3337560" y="1453896"/>
            <a:ext cx="2468880" cy="256032"/>
          </a:xfrm>
          <a:prstGeom prst="rect">
            <a:avLst/>
          </a:prstGeom>
          <a:noFill/>
          <a:ln/>
        </p:spPr>
        <p:txBody>
          <a:bodyPr wrap="square" lIns="0" tIns="0" rIns="0" bIns="0" rtlCol="0" anchor="ctr"/>
          <a:lstStyle/>
          <a:p>
            <a:pPr indent="0" marL="0">
              <a:buNone/>
            </a:pPr>
            <a:r>
              <a:rPr lang="en-US" sz="1100" b="1" dirty="0">
                <a:solidFill>
                  <a:srgbClr val="FFFFFF"/>
                </a:solidFill>
                <a:latin typeface="Georgia" pitchFamily="34" charset="0"/>
                <a:ea typeface="Georgia" pitchFamily="34" charset="-122"/>
                <a:cs typeface="Georgia" pitchFamily="34" charset="-120"/>
              </a:rPr>
              <a:t>Application Layer</a:t>
            </a:r>
            <a:endParaRPr lang="en-US" sz="1100" dirty="0"/>
          </a:p>
        </p:txBody>
      </p:sp>
      <p:sp>
        <p:nvSpPr>
          <p:cNvPr id="17" name="Text 15"/>
          <p:cNvSpPr/>
          <p:nvPr/>
        </p:nvSpPr>
        <p:spPr>
          <a:xfrm>
            <a:off x="3383280" y="1828800"/>
            <a:ext cx="2468880" cy="256032"/>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  Express.js</a:t>
            </a:r>
            <a:endParaRPr lang="en-US" sz="1000" dirty="0"/>
          </a:p>
        </p:txBody>
      </p:sp>
      <p:sp>
        <p:nvSpPr>
          <p:cNvPr id="18" name="Text 16"/>
          <p:cNvSpPr/>
          <p:nvPr/>
        </p:nvSpPr>
        <p:spPr>
          <a:xfrm>
            <a:off x="3383280" y="2103120"/>
            <a:ext cx="2468880" cy="256032"/>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  Prisma ORM</a:t>
            </a:r>
            <a:endParaRPr lang="en-US" sz="1000" dirty="0"/>
          </a:p>
        </p:txBody>
      </p:sp>
      <p:sp>
        <p:nvSpPr>
          <p:cNvPr id="19" name="Text 17"/>
          <p:cNvSpPr/>
          <p:nvPr/>
        </p:nvSpPr>
        <p:spPr>
          <a:xfrm>
            <a:off x="3383280" y="2377440"/>
            <a:ext cx="2468880" cy="256032"/>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  JWT (JOSE)</a:t>
            </a:r>
            <a:endParaRPr lang="en-US" sz="1000" dirty="0"/>
          </a:p>
        </p:txBody>
      </p:sp>
      <p:sp>
        <p:nvSpPr>
          <p:cNvPr id="20" name="Text 18"/>
          <p:cNvSpPr/>
          <p:nvPr/>
        </p:nvSpPr>
        <p:spPr>
          <a:xfrm>
            <a:off x="3383280" y="2651760"/>
            <a:ext cx="2468880" cy="256032"/>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  REST API</a:t>
            </a:r>
            <a:endParaRPr lang="en-US" sz="1000" dirty="0"/>
          </a:p>
        </p:txBody>
      </p:sp>
      <p:sp>
        <p:nvSpPr>
          <p:cNvPr id="21" name="Shape 19"/>
          <p:cNvSpPr/>
          <p:nvPr/>
        </p:nvSpPr>
        <p:spPr>
          <a:xfrm>
            <a:off x="6035040" y="1417320"/>
            <a:ext cx="2651760" cy="1508760"/>
          </a:xfrm>
          <a:prstGeom prst="rect">
            <a:avLst/>
          </a:prstGeom>
          <a:solidFill>
            <a:srgbClr val="FFFFFF"/>
          </a:solidFill>
          <a:ln w="12700">
            <a:solidFill>
              <a:srgbClr val="1E2761"/>
            </a:solidFill>
            <a:prstDash val="solid"/>
          </a:ln>
          <a:effectLst>
            <a:outerShdw sx="100000" sy="100000" kx="0" ky="0" algn="bl" rotWithShape="0" blurRad="127000" dist="38100" dir="8100000">
              <a:srgbClr val="000000">
                <a:alpha val="10000"/>
              </a:srgbClr>
            </a:outerShdw>
          </a:effectLst>
        </p:spPr>
      </p:sp>
      <p:sp>
        <p:nvSpPr>
          <p:cNvPr id="22" name="Shape 20"/>
          <p:cNvSpPr/>
          <p:nvPr/>
        </p:nvSpPr>
        <p:spPr>
          <a:xfrm>
            <a:off x="6035040" y="1417320"/>
            <a:ext cx="2651760" cy="320040"/>
          </a:xfrm>
          <a:prstGeom prst="rect">
            <a:avLst/>
          </a:prstGeom>
          <a:solidFill>
            <a:srgbClr val="1E2761"/>
          </a:solidFill>
          <a:ln w="12700">
            <a:solidFill>
              <a:srgbClr val="1E2761"/>
            </a:solidFill>
            <a:prstDash val="solid"/>
          </a:ln>
        </p:spPr>
      </p:sp>
      <p:sp>
        <p:nvSpPr>
          <p:cNvPr id="23" name="Text 21"/>
          <p:cNvSpPr/>
          <p:nvPr/>
        </p:nvSpPr>
        <p:spPr>
          <a:xfrm>
            <a:off x="6126480" y="1453896"/>
            <a:ext cx="2468880" cy="256032"/>
          </a:xfrm>
          <a:prstGeom prst="rect">
            <a:avLst/>
          </a:prstGeom>
          <a:noFill/>
          <a:ln/>
        </p:spPr>
        <p:txBody>
          <a:bodyPr wrap="square" lIns="0" tIns="0" rIns="0" bIns="0" rtlCol="0" anchor="ctr"/>
          <a:lstStyle/>
          <a:p>
            <a:pPr indent="0" marL="0">
              <a:buNone/>
            </a:pPr>
            <a:r>
              <a:rPr lang="en-US" sz="1100" b="1" dirty="0">
                <a:solidFill>
                  <a:srgbClr val="FFFFFF"/>
                </a:solidFill>
                <a:latin typeface="Georgia" pitchFamily="34" charset="0"/>
                <a:ea typeface="Georgia" pitchFamily="34" charset="-122"/>
                <a:cs typeface="Georgia" pitchFamily="34" charset="-120"/>
              </a:rPr>
              <a:t>AI / ML Layer</a:t>
            </a:r>
            <a:endParaRPr lang="en-US" sz="1100" dirty="0"/>
          </a:p>
        </p:txBody>
      </p:sp>
      <p:sp>
        <p:nvSpPr>
          <p:cNvPr id="24" name="Text 22"/>
          <p:cNvSpPr/>
          <p:nvPr/>
        </p:nvSpPr>
        <p:spPr>
          <a:xfrm>
            <a:off x="6172200" y="1828800"/>
            <a:ext cx="2468880" cy="256032"/>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  FastAPI</a:t>
            </a:r>
            <a:endParaRPr lang="en-US" sz="1000" dirty="0"/>
          </a:p>
        </p:txBody>
      </p:sp>
      <p:sp>
        <p:nvSpPr>
          <p:cNvPr id="25" name="Text 23"/>
          <p:cNvSpPr/>
          <p:nvPr/>
        </p:nvSpPr>
        <p:spPr>
          <a:xfrm>
            <a:off x="6172200" y="2103120"/>
            <a:ext cx="2468880" cy="256032"/>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  Groq LLaMA 3.3</a:t>
            </a:r>
            <a:endParaRPr lang="en-US" sz="1000" dirty="0"/>
          </a:p>
        </p:txBody>
      </p:sp>
      <p:sp>
        <p:nvSpPr>
          <p:cNvPr id="26" name="Text 24"/>
          <p:cNvSpPr/>
          <p:nvPr/>
        </p:nvSpPr>
        <p:spPr>
          <a:xfrm>
            <a:off x="6172200" y="2377440"/>
            <a:ext cx="2468880" cy="256032"/>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  FAISS + spaCy</a:t>
            </a:r>
            <a:endParaRPr lang="en-US" sz="1000" dirty="0"/>
          </a:p>
        </p:txBody>
      </p:sp>
      <p:sp>
        <p:nvSpPr>
          <p:cNvPr id="27" name="Text 25"/>
          <p:cNvSpPr/>
          <p:nvPr/>
        </p:nvSpPr>
        <p:spPr>
          <a:xfrm>
            <a:off x="6172200" y="2651760"/>
            <a:ext cx="2468880" cy="256032"/>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  Edge-TTS</a:t>
            </a:r>
            <a:endParaRPr lang="en-US" sz="1000" dirty="0"/>
          </a:p>
        </p:txBody>
      </p:sp>
      <p:sp>
        <p:nvSpPr>
          <p:cNvPr id="28" name="Shape 26"/>
          <p:cNvSpPr/>
          <p:nvPr/>
        </p:nvSpPr>
        <p:spPr>
          <a:xfrm>
            <a:off x="3108960" y="2057400"/>
            <a:ext cx="182880" cy="274320"/>
          </a:xfrm>
          <a:prstGeom prst="rightArrow">
            <a:avLst/>
          </a:prstGeom>
          <a:solidFill>
            <a:srgbClr val="B5651D"/>
          </a:solidFill>
          <a:ln w="12700">
            <a:solidFill>
              <a:srgbClr val="B5651D"/>
            </a:solidFill>
            <a:prstDash val="solid"/>
          </a:ln>
        </p:spPr>
      </p:sp>
      <p:sp>
        <p:nvSpPr>
          <p:cNvPr id="29" name="Shape 27"/>
          <p:cNvSpPr/>
          <p:nvPr/>
        </p:nvSpPr>
        <p:spPr>
          <a:xfrm>
            <a:off x="5897880" y="2057400"/>
            <a:ext cx="182880" cy="274320"/>
          </a:xfrm>
          <a:prstGeom prst="rightArrow">
            <a:avLst/>
          </a:prstGeom>
          <a:solidFill>
            <a:srgbClr val="B5651D"/>
          </a:solidFill>
          <a:ln w="12700">
            <a:solidFill>
              <a:srgbClr val="B5651D"/>
            </a:solidFill>
            <a:prstDash val="solid"/>
          </a:ln>
        </p:spPr>
      </p:sp>
      <p:sp>
        <p:nvSpPr>
          <p:cNvPr id="30" name="Shape 28"/>
          <p:cNvSpPr/>
          <p:nvPr/>
        </p:nvSpPr>
        <p:spPr>
          <a:xfrm>
            <a:off x="457200" y="3200400"/>
            <a:ext cx="8229600" cy="868680"/>
          </a:xfrm>
          <a:prstGeom prst="rect">
            <a:avLst/>
          </a:prstGeom>
          <a:solidFill>
            <a:srgbClr val="FFFFFF"/>
          </a:solidFill>
          <a:ln w="12700">
            <a:solidFill>
              <a:srgbClr val="1E2761"/>
            </a:solidFill>
            <a:prstDash val="solid"/>
          </a:ln>
          <a:effectLst>
            <a:outerShdw sx="100000" sy="100000" kx="0" ky="0" algn="bl" rotWithShape="0" blurRad="127000" dist="38100" dir="8100000">
              <a:srgbClr val="000000">
                <a:alpha val="10000"/>
              </a:srgbClr>
            </a:outerShdw>
          </a:effectLst>
        </p:spPr>
      </p:sp>
      <p:sp>
        <p:nvSpPr>
          <p:cNvPr id="31" name="Shape 29"/>
          <p:cNvSpPr/>
          <p:nvPr/>
        </p:nvSpPr>
        <p:spPr>
          <a:xfrm>
            <a:off x="457200" y="3200400"/>
            <a:ext cx="8229600" cy="320040"/>
          </a:xfrm>
          <a:prstGeom prst="rect">
            <a:avLst/>
          </a:prstGeom>
          <a:solidFill>
            <a:srgbClr val="B5651D"/>
          </a:solidFill>
          <a:ln w="12700">
            <a:solidFill>
              <a:srgbClr val="B5651D"/>
            </a:solidFill>
            <a:prstDash val="solid"/>
          </a:ln>
        </p:spPr>
      </p:sp>
      <p:sp>
        <p:nvSpPr>
          <p:cNvPr id="32" name="Text 30"/>
          <p:cNvSpPr/>
          <p:nvPr/>
        </p:nvSpPr>
        <p:spPr>
          <a:xfrm>
            <a:off x="548640" y="3236976"/>
            <a:ext cx="8046720" cy="256032"/>
          </a:xfrm>
          <a:prstGeom prst="rect">
            <a:avLst/>
          </a:prstGeom>
          <a:noFill/>
          <a:ln/>
        </p:spPr>
        <p:txBody>
          <a:bodyPr wrap="square" lIns="0" tIns="0" rIns="0" bIns="0" rtlCol="0" anchor="ctr"/>
          <a:lstStyle/>
          <a:p>
            <a:pPr indent="0" marL="0">
              <a:buNone/>
            </a:pPr>
            <a:r>
              <a:rPr lang="en-US" sz="1100" b="1" dirty="0">
                <a:solidFill>
                  <a:srgbClr val="0B1437"/>
                </a:solidFill>
                <a:latin typeface="Georgia" pitchFamily="34" charset="0"/>
                <a:ea typeface="Georgia" pitchFamily="34" charset="-122"/>
                <a:cs typeface="Georgia" pitchFamily="34" charset="-120"/>
              </a:rPr>
              <a:t>Data Layer</a:t>
            </a:r>
            <a:endParaRPr lang="en-US" sz="1100" dirty="0"/>
          </a:p>
        </p:txBody>
      </p:sp>
      <p:sp>
        <p:nvSpPr>
          <p:cNvPr id="33" name="Text 31"/>
          <p:cNvSpPr/>
          <p:nvPr/>
        </p:nvSpPr>
        <p:spPr>
          <a:xfrm>
            <a:off x="548640" y="3611880"/>
            <a:ext cx="8046720" cy="36576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PostgreSQL (Neon serverless) for persistent data · Redis (with in-memory fallback) for cache and rate-limit</a:t>
            </a:r>
            <a:endParaRPr lang="en-US" sz="1100" dirty="0"/>
          </a:p>
        </p:txBody>
      </p:sp>
      <p:sp>
        <p:nvSpPr>
          <p:cNvPr id="34" name="Shape 32"/>
          <p:cNvSpPr/>
          <p:nvPr/>
        </p:nvSpPr>
        <p:spPr>
          <a:xfrm>
            <a:off x="1755648" y="2944368"/>
            <a:ext cx="146304" cy="182880"/>
          </a:xfrm>
          <a:prstGeom prst="downArrow">
            <a:avLst/>
          </a:prstGeom>
          <a:solidFill>
            <a:srgbClr val="B5651D"/>
          </a:solidFill>
          <a:ln w="12700">
            <a:solidFill>
              <a:srgbClr val="B5651D"/>
            </a:solidFill>
            <a:prstDash val="solid"/>
          </a:ln>
        </p:spPr>
      </p:sp>
      <p:sp>
        <p:nvSpPr>
          <p:cNvPr id="35" name="Shape 33"/>
          <p:cNvSpPr/>
          <p:nvPr/>
        </p:nvSpPr>
        <p:spPr>
          <a:xfrm>
            <a:off x="4498848" y="2944368"/>
            <a:ext cx="146304" cy="182880"/>
          </a:xfrm>
          <a:prstGeom prst="downArrow">
            <a:avLst/>
          </a:prstGeom>
          <a:solidFill>
            <a:srgbClr val="B5651D"/>
          </a:solidFill>
          <a:ln w="12700">
            <a:solidFill>
              <a:srgbClr val="B5651D"/>
            </a:solidFill>
            <a:prstDash val="solid"/>
          </a:ln>
        </p:spPr>
      </p:sp>
      <p:sp>
        <p:nvSpPr>
          <p:cNvPr id="36" name="Shape 34"/>
          <p:cNvSpPr/>
          <p:nvPr/>
        </p:nvSpPr>
        <p:spPr>
          <a:xfrm>
            <a:off x="7242048" y="2944368"/>
            <a:ext cx="146304" cy="182880"/>
          </a:xfrm>
          <a:prstGeom prst="downArrow">
            <a:avLst/>
          </a:prstGeom>
          <a:solidFill>
            <a:srgbClr val="B5651D"/>
          </a:solidFill>
          <a:ln w="12700">
            <a:solidFill>
              <a:srgbClr val="B5651D"/>
            </a:solidFill>
            <a:prstDash val="solid"/>
          </a:ln>
        </p:spPr>
      </p:sp>
      <p:sp>
        <p:nvSpPr>
          <p:cNvPr id="37" name="Text 35"/>
          <p:cNvSpPr/>
          <p:nvPr/>
        </p:nvSpPr>
        <p:spPr>
          <a:xfrm>
            <a:off x="457200" y="4251960"/>
            <a:ext cx="8229600" cy="274320"/>
          </a:xfrm>
          <a:prstGeom prst="rect">
            <a:avLst/>
          </a:prstGeom>
          <a:noFill/>
          <a:ln/>
        </p:spPr>
        <p:txBody>
          <a:bodyPr wrap="square" lIns="0" tIns="0" rIns="0" bIns="0" rtlCol="0" anchor="ctr"/>
          <a:lstStyle/>
          <a:p>
            <a:pPr algn="ctr" indent="0" marL="0">
              <a:buNone/>
            </a:pPr>
            <a:r>
              <a:rPr lang="en-US" sz="1000" i="1" dirty="0">
                <a:solidFill>
                  <a:srgbClr val="5C6B95"/>
                </a:solidFill>
                <a:latin typeface="Calibri" pitchFamily="34" charset="0"/>
                <a:ea typeface="Calibri" pitchFamily="34" charset="-122"/>
                <a:cs typeface="Calibri" pitchFamily="34" charset="-120"/>
              </a:rPr>
              <a:t>Figure 5.1 — Three-tier microservice architecture with shared data layer</a:t>
            </a:r>
            <a:endParaRPr lang="en-US" sz="1000" dirty="0"/>
          </a:p>
        </p:txBody>
      </p:sp>
      <p:sp>
        <p:nvSpPr>
          <p:cNvPr id="38" name="Shape 36"/>
          <p:cNvSpPr/>
          <p:nvPr/>
        </p:nvSpPr>
        <p:spPr>
          <a:xfrm>
            <a:off x="0" y="4937760"/>
            <a:ext cx="9144000" cy="27432"/>
          </a:xfrm>
          <a:prstGeom prst="rect">
            <a:avLst/>
          </a:prstGeom>
          <a:solidFill>
            <a:srgbClr val="CFD4E6"/>
          </a:solidFill>
          <a:ln w="12700">
            <a:solidFill>
              <a:srgbClr val="CFD4E6"/>
            </a:solidFill>
            <a:prstDash val="solid"/>
          </a:ln>
        </p:spPr>
      </p:sp>
      <p:sp>
        <p:nvSpPr>
          <p:cNvPr id="39" name="Text 37"/>
          <p:cNvSpPr/>
          <p:nvPr/>
        </p:nvSpPr>
        <p:spPr>
          <a:xfrm>
            <a:off x="457200" y="4965192"/>
            <a:ext cx="6400800" cy="182880"/>
          </a:xfrm>
          <a:prstGeom prst="rect">
            <a:avLst/>
          </a:prstGeom>
          <a:noFill/>
          <a:ln/>
        </p:spPr>
        <p:txBody>
          <a:bodyPr wrap="square" lIns="0" tIns="0" rIns="0" bIns="0" rtlCol="0" anchor="ctr"/>
          <a:lstStyle/>
          <a:p>
            <a:pPr indent="0" marL="0">
              <a:buNone/>
            </a:pPr>
            <a:r>
              <a:rPr lang="en-US" sz="900" dirty="0">
                <a:solidFill>
                  <a:srgbClr val="5C6B95"/>
                </a:solidFill>
                <a:latin typeface="Calibri" pitchFamily="34" charset="0"/>
                <a:ea typeface="Calibri" pitchFamily="34" charset="-122"/>
                <a:cs typeface="Calibri" pitchFamily="34" charset="-120"/>
              </a:rPr>
              <a:t>AI Interview Platform · Project Report</a:t>
            </a:r>
            <a:endParaRPr lang="en-US" sz="900" dirty="0"/>
          </a:p>
        </p:txBody>
      </p:sp>
      <p:sp>
        <p:nvSpPr>
          <p:cNvPr id="40" name="Text 38"/>
          <p:cNvSpPr/>
          <p:nvPr/>
        </p:nvSpPr>
        <p:spPr>
          <a:xfrm>
            <a:off x="8412480" y="4965192"/>
            <a:ext cx="365760" cy="182880"/>
          </a:xfrm>
          <a:prstGeom prst="rect">
            <a:avLst/>
          </a:prstGeom>
          <a:noFill/>
          <a:ln/>
        </p:spPr>
        <p:txBody>
          <a:bodyPr wrap="square" lIns="0" tIns="0" rIns="0" bIns="0" rtlCol="0" anchor="ctr"/>
          <a:lstStyle/>
          <a:p>
            <a:pPr algn="r" indent="0" marL="0">
              <a:buNone/>
            </a:pPr>
            <a:r>
              <a:rPr lang="en-US" sz="900" dirty="0">
                <a:solidFill>
                  <a:srgbClr val="5C6B9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457200" y="411480"/>
            <a:ext cx="411480" cy="320040"/>
          </a:xfrm>
          <a:prstGeom prst="rect">
            <a:avLst/>
          </a:prstGeom>
          <a:solidFill>
            <a:srgbClr val="1E2761"/>
          </a:solidFill>
          <a:ln w="12700">
            <a:solidFill>
              <a:srgbClr val="1E2761"/>
            </a:solidFill>
            <a:prstDash val="solid"/>
          </a:ln>
        </p:spPr>
      </p:sp>
      <p:sp>
        <p:nvSpPr>
          <p:cNvPr id="3" name="Text 1"/>
          <p:cNvSpPr/>
          <p:nvPr/>
        </p:nvSpPr>
        <p:spPr>
          <a:xfrm>
            <a:off x="457200" y="411480"/>
            <a:ext cx="4114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06</a:t>
            </a:r>
            <a:endParaRPr lang="en-US" sz="1400" dirty="0"/>
          </a:p>
        </p:txBody>
      </p:sp>
      <p:sp>
        <p:nvSpPr>
          <p:cNvPr id="4" name="Text 2"/>
          <p:cNvSpPr/>
          <p:nvPr/>
        </p:nvSpPr>
        <p:spPr>
          <a:xfrm>
            <a:off x="1005840" y="365760"/>
            <a:ext cx="822960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Methodology</a:t>
            </a:r>
            <a:endParaRPr lang="en-US" sz="2600" dirty="0"/>
          </a:p>
        </p:txBody>
      </p:sp>
      <p:sp>
        <p:nvSpPr>
          <p:cNvPr id="5" name="Shape 3"/>
          <p:cNvSpPr/>
          <p:nvPr/>
        </p:nvSpPr>
        <p:spPr>
          <a:xfrm>
            <a:off x="1005840" y="896112"/>
            <a:ext cx="548640" cy="36576"/>
          </a:xfrm>
          <a:prstGeom prst="rect">
            <a:avLst/>
          </a:prstGeom>
          <a:solidFill>
            <a:srgbClr val="B5651D"/>
          </a:solidFill>
          <a:ln w="12700">
            <a:solidFill>
              <a:srgbClr val="B5651D"/>
            </a:solidFill>
            <a:prstDash val="solid"/>
          </a:ln>
        </p:spPr>
      </p:sp>
      <p:sp>
        <p:nvSpPr>
          <p:cNvPr id="6" name="Text 4"/>
          <p:cNvSpPr/>
          <p:nvPr/>
        </p:nvSpPr>
        <p:spPr>
          <a:xfrm>
            <a:off x="1005840" y="960120"/>
            <a:ext cx="8229600" cy="274320"/>
          </a:xfrm>
          <a:prstGeom prst="rect">
            <a:avLst/>
          </a:prstGeom>
          <a:noFill/>
          <a:ln/>
        </p:spPr>
        <p:txBody>
          <a:bodyPr wrap="square" lIns="0" tIns="0" rIns="0" bIns="0" rtlCol="0" anchor="ctr"/>
          <a:lstStyle/>
          <a:p>
            <a:pPr indent="0" marL="0">
              <a:buNone/>
            </a:pPr>
            <a:r>
              <a:rPr lang="en-US" sz="1200" i="1" dirty="0">
                <a:solidFill>
                  <a:srgbClr val="5C6B95"/>
                </a:solidFill>
                <a:latin typeface="Calibri" pitchFamily="34" charset="0"/>
                <a:ea typeface="Calibri" pitchFamily="34" charset="-122"/>
                <a:cs typeface="Calibri" pitchFamily="34" charset="-120"/>
              </a:rPr>
              <a:t>Agile SDLC in six incremental phases</a:t>
            </a:r>
            <a:endParaRPr lang="en-US" sz="1200" dirty="0"/>
          </a:p>
        </p:txBody>
      </p:sp>
      <p:sp>
        <p:nvSpPr>
          <p:cNvPr id="7" name="Shape 5"/>
          <p:cNvSpPr/>
          <p:nvPr/>
        </p:nvSpPr>
        <p:spPr>
          <a:xfrm>
            <a:off x="457200" y="1691640"/>
            <a:ext cx="1371600" cy="1097280"/>
          </a:xfrm>
          <a:prstGeom prst="rect">
            <a:avLst/>
          </a:prstGeom>
          <a:solidFill>
            <a:srgbClr val="FFFFFF"/>
          </a:solidFill>
          <a:ln w="12700">
            <a:solidFill>
              <a:srgbClr val="1E2761"/>
            </a:solidFill>
            <a:prstDash val="solid"/>
          </a:ln>
          <a:effectLst>
            <a:outerShdw sx="100000" sy="100000" kx="0" ky="0" algn="bl" rotWithShape="0" blurRad="127000" dist="38100" dir="8100000">
              <a:srgbClr val="000000">
                <a:alpha val="10000"/>
              </a:srgbClr>
            </a:outerShdw>
          </a:effectLst>
        </p:spPr>
      </p:sp>
      <p:sp>
        <p:nvSpPr>
          <p:cNvPr id="8" name="Shape 6"/>
          <p:cNvSpPr/>
          <p:nvPr/>
        </p:nvSpPr>
        <p:spPr>
          <a:xfrm>
            <a:off x="457200" y="1691640"/>
            <a:ext cx="1371600" cy="320040"/>
          </a:xfrm>
          <a:prstGeom prst="rect">
            <a:avLst/>
          </a:prstGeom>
          <a:solidFill>
            <a:srgbClr val="1E2761"/>
          </a:solidFill>
          <a:ln w="12700">
            <a:solidFill>
              <a:srgbClr val="1E2761"/>
            </a:solidFill>
            <a:prstDash val="solid"/>
          </a:ln>
        </p:spPr>
      </p:sp>
      <p:sp>
        <p:nvSpPr>
          <p:cNvPr id="9" name="Text 7"/>
          <p:cNvSpPr/>
          <p:nvPr/>
        </p:nvSpPr>
        <p:spPr>
          <a:xfrm>
            <a:off x="457200" y="1737360"/>
            <a:ext cx="1371600" cy="22860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Georgia" pitchFamily="34" charset="0"/>
                <a:ea typeface="Georgia" pitchFamily="34" charset="-122"/>
                <a:cs typeface="Georgia" pitchFamily="34" charset="-120"/>
              </a:rPr>
              <a:t>Phase I</a:t>
            </a:r>
            <a:endParaRPr lang="en-US" sz="1000" dirty="0"/>
          </a:p>
        </p:txBody>
      </p:sp>
      <p:sp>
        <p:nvSpPr>
          <p:cNvPr id="10" name="Text 8"/>
          <p:cNvSpPr/>
          <p:nvPr/>
        </p:nvSpPr>
        <p:spPr>
          <a:xfrm>
            <a:off x="502920" y="2103120"/>
            <a:ext cx="1280160" cy="640080"/>
          </a:xfrm>
          <a:prstGeom prst="rect">
            <a:avLst/>
          </a:prstGeom>
          <a:noFill/>
          <a:ln/>
        </p:spPr>
        <p:txBody>
          <a:bodyPr wrap="square" lIns="0" tIns="0" rIns="0" bIns="0" rtlCol="0" anchor="ctr"/>
          <a:lstStyle/>
          <a:p>
            <a:pPr algn="ctr" indent="0" marL="0">
              <a:buNone/>
            </a:pPr>
            <a:r>
              <a:rPr lang="en-US" sz="1100" dirty="0">
                <a:solidFill>
                  <a:srgbClr val="1E2761"/>
                </a:solidFill>
                <a:latin typeface="Calibri" pitchFamily="34" charset="0"/>
                <a:ea typeface="Calibri" pitchFamily="34" charset="-122"/>
                <a:cs typeface="Calibri" pitchFamily="34" charset="-120"/>
              </a:rPr>
              <a:t>Requirement</a:t>
            </a:r>
            <a:endParaRPr lang="en-US" sz="1100" dirty="0"/>
          </a:p>
          <a:p>
            <a:pPr algn="ctr" indent="0" marL="0">
              <a:buNone/>
            </a:pPr>
            <a:r>
              <a:rPr lang="en-US" sz="1100" dirty="0">
                <a:solidFill>
                  <a:srgbClr val="1E2761"/>
                </a:solidFill>
                <a:latin typeface="Calibri" pitchFamily="34" charset="0"/>
                <a:ea typeface="Calibri" pitchFamily="34" charset="-122"/>
                <a:cs typeface="Calibri" pitchFamily="34" charset="-120"/>
              </a:rPr>
              <a:t>Analysis</a:t>
            </a:r>
            <a:endParaRPr lang="en-US" sz="1100" dirty="0"/>
          </a:p>
        </p:txBody>
      </p:sp>
      <p:sp>
        <p:nvSpPr>
          <p:cNvPr id="11" name="Shape 9"/>
          <p:cNvSpPr/>
          <p:nvPr/>
        </p:nvSpPr>
        <p:spPr>
          <a:xfrm>
            <a:off x="1901952" y="1691640"/>
            <a:ext cx="1371600" cy="1097280"/>
          </a:xfrm>
          <a:prstGeom prst="rect">
            <a:avLst/>
          </a:prstGeom>
          <a:solidFill>
            <a:srgbClr val="FFFFFF"/>
          </a:solidFill>
          <a:ln w="12700">
            <a:solidFill>
              <a:srgbClr val="1E2761"/>
            </a:solidFill>
            <a:prstDash val="solid"/>
          </a:ln>
          <a:effectLst>
            <a:outerShdw sx="100000" sy="100000" kx="0" ky="0" algn="bl" rotWithShape="0" blurRad="127000" dist="38100" dir="8100000">
              <a:srgbClr val="000000">
                <a:alpha val="10000"/>
              </a:srgbClr>
            </a:outerShdw>
          </a:effectLst>
        </p:spPr>
      </p:sp>
      <p:sp>
        <p:nvSpPr>
          <p:cNvPr id="12" name="Shape 10"/>
          <p:cNvSpPr/>
          <p:nvPr/>
        </p:nvSpPr>
        <p:spPr>
          <a:xfrm>
            <a:off x="1901952" y="1691640"/>
            <a:ext cx="1371600" cy="320040"/>
          </a:xfrm>
          <a:prstGeom prst="rect">
            <a:avLst/>
          </a:prstGeom>
          <a:solidFill>
            <a:srgbClr val="1E2761"/>
          </a:solidFill>
          <a:ln w="12700">
            <a:solidFill>
              <a:srgbClr val="1E2761"/>
            </a:solidFill>
            <a:prstDash val="solid"/>
          </a:ln>
        </p:spPr>
      </p:sp>
      <p:sp>
        <p:nvSpPr>
          <p:cNvPr id="13" name="Text 11"/>
          <p:cNvSpPr/>
          <p:nvPr/>
        </p:nvSpPr>
        <p:spPr>
          <a:xfrm>
            <a:off x="1901952" y="1737360"/>
            <a:ext cx="1371600" cy="22860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Georgia" pitchFamily="34" charset="0"/>
                <a:ea typeface="Georgia" pitchFamily="34" charset="-122"/>
                <a:cs typeface="Georgia" pitchFamily="34" charset="-120"/>
              </a:rPr>
              <a:t>Phase II</a:t>
            </a:r>
            <a:endParaRPr lang="en-US" sz="1000" dirty="0"/>
          </a:p>
        </p:txBody>
      </p:sp>
      <p:sp>
        <p:nvSpPr>
          <p:cNvPr id="14" name="Text 12"/>
          <p:cNvSpPr/>
          <p:nvPr/>
        </p:nvSpPr>
        <p:spPr>
          <a:xfrm>
            <a:off x="1947672" y="2103120"/>
            <a:ext cx="1280160" cy="640080"/>
          </a:xfrm>
          <a:prstGeom prst="rect">
            <a:avLst/>
          </a:prstGeom>
          <a:noFill/>
          <a:ln/>
        </p:spPr>
        <p:txBody>
          <a:bodyPr wrap="square" lIns="0" tIns="0" rIns="0" bIns="0" rtlCol="0" anchor="ctr"/>
          <a:lstStyle/>
          <a:p>
            <a:pPr algn="ctr" indent="0" marL="0">
              <a:buNone/>
            </a:pPr>
            <a:r>
              <a:rPr lang="en-US" sz="1100" dirty="0">
                <a:solidFill>
                  <a:srgbClr val="1E2761"/>
                </a:solidFill>
                <a:latin typeface="Calibri" pitchFamily="34" charset="0"/>
                <a:ea typeface="Calibri" pitchFamily="34" charset="-122"/>
                <a:cs typeface="Calibri" pitchFamily="34" charset="-120"/>
              </a:rPr>
              <a:t>System</a:t>
            </a:r>
            <a:endParaRPr lang="en-US" sz="1100" dirty="0"/>
          </a:p>
          <a:p>
            <a:pPr algn="ctr" indent="0" marL="0">
              <a:buNone/>
            </a:pPr>
            <a:r>
              <a:rPr lang="en-US" sz="1100" dirty="0">
                <a:solidFill>
                  <a:srgbClr val="1E2761"/>
                </a:solidFill>
                <a:latin typeface="Calibri" pitchFamily="34" charset="0"/>
                <a:ea typeface="Calibri" pitchFamily="34" charset="-122"/>
                <a:cs typeface="Calibri" pitchFamily="34" charset="-120"/>
              </a:rPr>
              <a:t>Design</a:t>
            </a:r>
            <a:endParaRPr lang="en-US" sz="1100" dirty="0"/>
          </a:p>
        </p:txBody>
      </p:sp>
      <p:sp>
        <p:nvSpPr>
          <p:cNvPr id="15" name="Shape 13"/>
          <p:cNvSpPr/>
          <p:nvPr/>
        </p:nvSpPr>
        <p:spPr>
          <a:xfrm>
            <a:off x="3346704" y="1691640"/>
            <a:ext cx="1371600" cy="1097280"/>
          </a:xfrm>
          <a:prstGeom prst="rect">
            <a:avLst/>
          </a:prstGeom>
          <a:solidFill>
            <a:srgbClr val="FFFFFF"/>
          </a:solidFill>
          <a:ln w="12700">
            <a:solidFill>
              <a:srgbClr val="1E2761"/>
            </a:solidFill>
            <a:prstDash val="solid"/>
          </a:ln>
          <a:effectLst>
            <a:outerShdw sx="100000" sy="100000" kx="0" ky="0" algn="bl" rotWithShape="0" blurRad="127000" dist="38100" dir="8100000">
              <a:srgbClr val="000000">
                <a:alpha val="10000"/>
              </a:srgbClr>
            </a:outerShdw>
          </a:effectLst>
        </p:spPr>
      </p:sp>
      <p:sp>
        <p:nvSpPr>
          <p:cNvPr id="16" name="Shape 14"/>
          <p:cNvSpPr/>
          <p:nvPr/>
        </p:nvSpPr>
        <p:spPr>
          <a:xfrm>
            <a:off x="3346704" y="1691640"/>
            <a:ext cx="1371600" cy="320040"/>
          </a:xfrm>
          <a:prstGeom prst="rect">
            <a:avLst/>
          </a:prstGeom>
          <a:solidFill>
            <a:srgbClr val="1E2761"/>
          </a:solidFill>
          <a:ln w="12700">
            <a:solidFill>
              <a:srgbClr val="1E2761"/>
            </a:solidFill>
            <a:prstDash val="solid"/>
          </a:ln>
        </p:spPr>
      </p:sp>
      <p:sp>
        <p:nvSpPr>
          <p:cNvPr id="17" name="Text 15"/>
          <p:cNvSpPr/>
          <p:nvPr/>
        </p:nvSpPr>
        <p:spPr>
          <a:xfrm>
            <a:off x="3346704" y="1737360"/>
            <a:ext cx="1371600" cy="22860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Georgia" pitchFamily="34" charset="0"/>
                <a:ea typeface="Georgia" pitchFamily="34" charset="-122"/>
                <a:cs typeface="Georgia" pitchFamily="34" charset="-120"/>
              </a:rPr>
              <a:t>Phase III</a:t>
            </a:r>
            <a:endParaRPr lang="en-US" sz="1000" dirty="0"/>
          </a:p>
        </p:txBody>
      </p:sp>
      <p:sp>
        <p:nvSpPr>
          <p:cNvPr id="18" name="Text 16"/>
          <p:cNvSpPr/>
          <p:nvPr/>
        </p:nvSpPr>
        <p:spPr>
          <a:xfrm>
            <a:off x="3392424" y="2103120"/>
            <a:ext cx="1280160" cy="640080"/>
          </a:xfrm>
          <a:prstGeom prst="rect">
            <a:avLst/>
          </a:prstGeom>
          <a:noFill/>
          <a:ln/>
        </p:spPr>
        <p:txBody>
          <a:bodyPr wrap="square" lIns="0" tIns="0" rIns="0" bIns="0" rtlCol="0" anchor="ctr"/>
          <a:lstStyle/>
          <a:p>
            <a:pPr algn="ctr" indent="0" marL="0">
              <a:buNone/>
            </a:pPr>
            <a:r>
              <a:rPr lang="en-US" sz="1100" dirty="0">
                <a:solidFill>
                  <a:srgbClr val="1E2761"/>
                </a:solidFill>
                <a:latin typeface="Calibri" pitchFamily="34" charset="0"/>
                <a:ea typeface="Calibri" pitchFamily="34" charset="-122"/>
                <a:cs typeface="Calibri" pitchFamily="34" charset="-120"/>
              </a:rPr>
              <a:t>Implementation</a:t>
            </a:r>
            <a:endParaRPr lang="en-US" sz="1100" dirty="0"/>
          </a:p>
        </p:txBody>
      </p:sp>
      <p:sp>
        <p:nvSpPr>
          <p:cNvPr id="19" name="Shape 17"/>
          <p:cNvSpPr/>
          <p:nvPr/>
        </p:nvSpPr>
        <p:spPr>
          <a:xfrm>
            <a:off x="4791456" y="1691640"/>
            <a:ext cx="1371600" cy="1097280"/>
          </a:xfrm>
          <a:prstGeom prst="rect">
            <a:avLst/>
          </a:prstGeom>
          <a:solidFill>
            <a:srgbClr val="FFFFFF"/>
          </a:solidFill>
          <a:ln w="12700">
            <a:solidFill>
              <a:srgbClr val="1E2761"/>
            </a:solidFill>
            <a:prstDash val="solid"/>
          </a:ln>
          <a:effectLst>
            <a:outerShdw sx="100000" sy="100000" kx="0" ky="0" algn="bl" rotWithShape="0" blurRad="127000" dist="38100" dir="8100000">
              <a:srgbClr val="000000">
                <a:alpha val="10000"/>
              </a:srgbClr>
            </a:outerShdw>
          </a:effectLst>
        </p:spPr>
      </p:sp>
      <p:sp>
        <p:nvSpPr>
          <p:cNvPr id="20" name="Shape 18"/>
          <p:cNvSpPr/>
          <p:nvPr/>
        </p:nvSpPr>
        <p:spPr>
          <a:xfrm>
            <a:off x="4791456" y="1691640"/>
            <a:ext cx="1371600" cy="320040"/>
          </a:xfrm>
          <a:prstGeom prst="rect">
            <a:avLst/>
          </a:prstGeom>
          <a:solidFill>
            <a:srgbClr val="1E2761"/>
          </a:solidFill>
          <a:ln w="12700">
            <a:solidFill>
              <a:srgbClr val="1E2761"/>
            </a:solidFill>
            <a:prstDash val="solid"/>
          </a:ln>
        </p:spPr>
      </p:sp>
      <p:sp>
        <p:nvSpPr>
          <p:cNvPr id="21" name="Text 19"/>
          <p:cNvSpPr/>
          <p:nvPr/>
        </p:nvSpPr>
        <p:spPr>
          <a:xfrm>
            <a:off x="4791456" y="1737360"/>
            <a:ext cx="1371600" cy="22860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Georgia" pitchFamily="34" charset="0"/>
                <a:ea typeface="Georgia" pitchFamily="34" charset="-122"/>
                <a:cs typeface="Georgia" pitchFamily="34" charset="-120"/>
              </a:rPr>
              <a:t>Phase IV</a:t>
            </a:r>
            <a:endParaRPr lang="en-US" sz="1000" dirty="0"/>
          </a:p>
        </p:txBody>
      </p:sp>
      <p:sp>
        <p:nvSpPr>
          <p:cNvPr id="22" name="Text 20"/>
          <p:cNvSpPr/>
          <p:nvPr/>
        </p:nvSpPr>
        <p:spPr>
          <a:xfrm>
            <a:off x="4837176" y="2103120"/>
            <a:ext cx="1280160" cy="640080"/>
          </a:xfrm>
          <a:prstGeom prst="rect">
            <a:avLst/>
          </a:prstGeom>
          <a:noFill/>
          <a:ln/>
        </p:spPr>
        <p:txBody>
          <a:bodyPr wrap="square" lIns="0" tIns="0" rIns="0" bIns="0" rtlCol="0" anchor="ctr"/>
          <a:lstStyle/>
          <a:p>
            <a:pPr algn="ctr" indent="0" marL="0">
              <a:buNone/>
            </a:pPr>
            <a:r>
              <a:rPr lang="en-US" sz="1100" dirty="0">
                <a:solidFill>
                  <a:srgbClr val="1E2761"/>
                </a:solidFill>
                <a:latin typeface="Calibri" pitchFamily="34" charset="0"/>
                <a:ea typeface="Calibri" pitchFamily="34" charset="-122"/>
                <a:cs typeface="Calibri" pitchFamily="34" charset="-120"/>
              </a:rPr>
              <a:t>Unit</a:t>
            </a:r>
            <a:endParaRPr lang="en-US" sz="1100" dirty="0"/>
          </a:p>
          <a:p>
            <a:pPr algn="ctr" indent="0" marL="0">
              <a:buNone/>
            </a:pPr>
            <a:r>
              <a:rPr lang="en-US" sz="1100" dirty="0">
                <a:solidFill>
                  <a:srgbClr val="1E2761"/>
                </a:solidFill>
                <a:latin typeface="Calibri" pitchFamily="34" charset="0"/>
                <a:ea typeface="Calibri" pitchFamily="34" charset="-122"/>
                <a:cs typeface="Calibri" pitchFamily="34" charset="-120"/>
              </a:rPr>
              <a:t>Testing</a:t>
            </a:r>
            <a:endParaRPr lang="en-US" sz="1100" dirty="0"/>
          </a:p>
        </p:txBody>
      </p:sp>
      <p:sp>
        <p:nvSpPr>
          <p:cNvPr id="23" name="Shape 21"/>
          <p:cNvSpPr/>
          <p:nvPr/>
        </p:nvSpPr>
        <p:spPr>
          <a:xfrm>
            <a:off x="6236208" y="1691640"/>
            <a:ext cx="1371600" cy="1097280"/>
          </a:xfrm>
          <a:prstGeom prst="rect">
            <a:avLst/>
          </a:prstGeom>
          <a:solidFill>
            <a:srgbClr val="FFFFFF"/>
          </a:solidFill>
          <a:ln w="12700">
            <a:solidFill>
              <a:srgbClr val="1E2761"/>
            </a:solidFill>
            <a:prstDash val="solid"/>
          </a:ln>
          <a:effectLst>
            <a:outerShdw sx="100000" sy="100000" kx="0" ky="0" algn="bl" rotWithShape="0" blurRad="127000" dist="38100" dir="8100000">
              <a:srgbClr val="000000">
                <a:alpha val="10000"/>
              </a:srgbClr>
            </a:outerShdw>
          </a:effectLst>
        </p:spPr>
      </p:sp>
      <p:sp>
        <p:nvSpPr>
          <p:cNvPr id="24" name="Shape 22"/>
          <p:cNvSpPr/>
          <p:nvPr/>
        </p:nvSpPr>
        <p:spPr>
          <a:xfrm>
            <a:off x="6236208" y="1691640"/>
            <a:ext cx="1371600" cy="320040"/>
          </a:xfrm>
          <a:prstGeom prst="rect">
            <a:avLst/>
          </a:prstGeom>
          <a:solidFill>
            <a:srgbClr val="1E2761"/>
          </a:solidFill>
          <a:ln w="12700">
            <a:solidFill>
              <a:srgbClr val="1E2761"/>
            </a:solidFill>
            <a:prstDash val="solid"/>
          </a:ln>
        </p:spPr>
      </p:sp>
      <p:sp>
        <p:nvSpPr>
          <p:cNvPr id="25" name="Text 23"/>
          <p:cNvSpPr/>
          <p:nvPr/>
        </p:nvSpPr>
        <p:spPr>
          <a:xfrm>
            <a:off x="6236208" y="1737360"/>
            <a:ext cx="1371600" cy="22860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Georgia" pitchFamily="34" charset="0"/>
                <a:ea typeface="Georgia" pitchFamily="34" charset="-122"/>
                <a:cs typeface="Georgia" pitchFamily="34" charset="-120"/>
              </a:rPr>
              <a:t>Phase V</a:t>
            </a:r>
            <a:endParaRPr lang="en-US" sz="1000" dirty="0"/>
          </a:p>
        </p:txBody>
      </p:sp>
      <p:sp>
        <p:nvSpPr>
          <p:cNvPr id="26" name="Text 24"/>
          <p:cNvSpPr/>
          <p:nvPr/>
        </p:nvSpPr>
        <p:spPr>
          <a:xfrm>
            <a:off x="6281928" y="2103120"/>
            <a:ext cx="1280160" cy="640080"/>
          </a:xfrm>
          <a:prstGeom prst="rect">
            <a:avLst/>
          </a:prstGeom>
          <a:noFill/>
          <a:ln/>
        </p:spPr>
        <p:txBody>
          <a:bodyPr wrap="square" lIns="0" tIns="0" rIns="0" bIns="0" rtlCol="0" anchor="ctr"/>
          <a:lstStyle/>
          <a:p>
            <a:pPr algn="ctr" indent="0" marL="0">
              <a:buNone/>
            </a:pPr>
            <a:r>
              <a:rPr lang="en-US" sz="1100" dirty="0">
                <a:solidFill>
                  <a:srgbClr val="1E2761"/>
                </a:solidFill>
                <a:latin typeface="Calibri" pitchFamily="34" charset="0"/>
                <a:ea typeface="Calibri" pitchFamily="34" charset="-122"/>
                <a:cs typeface="Calibri" pitchFamily="34" charset="-120"/>
              </a:rPr>
              <a:t>Integration</a:t>
            </a:r>
            <a:endParaRPr lang="en-US" sz="1100" dirty="0"/>
          </a:p>
          <a:p>
            <a:pPr algn="ctr" indent="0" marL="0">
              <a:buNone/>
            </a:pPr>
            <a:r>
              <a:rPr lang="en-US" sz="1100" dirty="0">
                <a:solidFill>
                  <a:srgbClr val="1E2761"/>
                </a:solidFill>
                <a:latin typeface="Calibri" pitchFamily="34" charset="0"/>
                <a:ea typeface="Calibri" pitchFamily="34" charset="-122"/>
                <a:cs typeface="Calibri" pitchFamily="34" charset="-120"/>
              </a:rPr>
              <a:t>&amp; QA</a:t>
            </a:r>
            <a:endParaRPr lang="en-US" sz="1100" dirty="0"/>
          </a:p>
        </p:txBody>
      </p:sp>
      <p:sp>
        <p:nvSpPr>
          <p:cNvPr id="27" name="Shape 25"/>
          <p:cNvSpPr/>
          <p:nvPr/>
        </p:nvSpPr>
        <p:spPr>
          <a:xfrm>
            <a:off x="7680960" y="1691640"/>
            <a:ext cx="1371600" cy="1097280"/>
          </a:xfrm>
          <a:prstGeom prst="rect">
            <a:avLst/>
          </a:prstGeom>
          <a:solidFill>
            <a:srgbClr val="FFFFFF"/>
          </a:solidFill>
          <a:ln w="12700">
            <a:solidFill>
              <a:srgbClr val="1E2761"/>
            </a:solidFill>
            <a:prstDash val="solid"/>
          </a:ln>
          <a:effectLst>
            <a:outerShdw sx="100000" sy="100000" kx="0" ky="0" algn="bl" rotWithShape="0" blurRad="127000" dist="38100" dir="8100000">
              <a:srgbClr val="000000">
                <a:alpha val="10000"/>
              </a:srgbClr>
            </a:outerShdw>
          </a:effectLst>
        </p:spPr>
      </p:sp>
      <p:sp>
        <p:nvSpPr>
          <p:cNvPr id="28" name="Shape 26"/>
          <p:cNvSpPr/>
          <p:nvPr/>
        </p:nvSpPr>
        <p:spPr>
          <a:xfrm>
            <a:off x="7680960" y="1691640"/>
            <a:ext cx="1371600" cy="320040"/>
          </a:xfrm>
          <a:prstGeom prst="rect">
            <a:avLst/>
          </a:prstGeom>
          <a:solidFill>
            <a:srgbClr val="1E2761"/>
          </a:solidFill>
          <a:ln w="12700">
            <a:solidFill>
              <a:srgbClr val="1E2761"/>
            </a:solidFill>
            <a:prstDash val="solid"/>
          </a:ln>
        </p:spPr>
      </p:sp>
      <p:sp>
        <p:nvSpPr>
          <p:cNvPr id="29" name="Text 27"/>
          <p:cNvSpPr/>
          <p:nvPr/>
        </p:nvSpPr>
        <p:spPr>
          <a:xfrm>
            <a:off x="7680960" y="1737360"/>
            <a:ext cx="1371600" cy="228600"/>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Georgia" pitchFamily="34" charset="0"/>
                <a:ea typeface="Georgia" pitchFamily="34" charset="-122"/>
                <a:cs typeface="Georgia" pitchFamily="34" charset="-120"/>
              </a:rPr>
              <a:t>Phase VI</a:t>
            </a:r>
            <a:endParaRPr lang="en-US" sz="1000" dirty="0"/>
          </a:p>
        </p:txBody>
      </p:sp>
      <p:sp>
        <p:nvSpPr>
          <p:cNvPr id="30" name="Text 28"/>
          <p:cNvSpPr/>
          <p:nvPr/>
        </p:nvSpPr>
        <p:spPr>
          <a:xfrm>
            <a:off x="7726680" y="2103120"/>
            <a:ext cx="1280160" cy="640080"/>
          </a:xfrm>
          <a:prstGeom prst="rect">
            <a:avLst/>
          </a:prstGeom>
          <a:noFill/>
          <a:ln/>
        </p:spPr>
        <p:txBody>
          <a:bodyPr wrap="square" lIns="0" tIns="0" rIns="0" bIns="0" rtlCol="0" anchor="ctr"/>
          <a:lstStyle/>
          <a:p>
            <a:pPr algn="ctr" indent="0" marL="0">
              <a:buNone/>
            </a:pPr>
            <a:r>
              <a:rPr lang="en-US" sz="1100" dirty="0">
                <a:solidFill>
                  <a:srgbClr val="1E2761"/>
                </a:solidFill>
                <a:latin typeface="Calibri" pitchFamily="34" charset="0"/>
                <a:ea typeface="Calibri" pitchFamily="34" charset="-122"/>
                <a:cs typeface="Calibri" pitchFamily="34" charset="-120"/>
              </a:rPr>
              <a:t>Evaluation</a:t>
            </a:r>
            <a:endParaRPr lang="en-US" sz="1100" dirty="0"/>
          </a:p>
          <a:p>
            <a:pPr algn="ctr" indent="0" marL="0">
              <a:buNone/>
            </a:pPr>
            <a:r>
              <a:rPr lang="en-US" sz="1100" dirty="0">
                <a:solidFill>
                  <a:srgbClr val="1E2761"/>
                </a:solidFill>
                <a:latin typeface="Calibri" pitchFamily="34" charset="0"/>
                <a:ea typeface="Calibri" pitchFamily="34" charset="-122"/>
                <a:cs typeface="Calibri" pitchFamily="34" charset="-120"/>
              </a:rPr>
              <a:t>&amp; Report</a:t>
            </a:r>
            <a:endParaRPr lang="en-US" sz="1100" dirty="0"/>
          </a:p>
        </p:txBody>
      </p:sp>
      <p:sp>
        <p:nvSpPr>
          <p:cNvPr id="31" name="Text 29"/>
          <p:cNvSpPr/>
          <p:nvPr/>
        </p:nvSpPr>
        <p:spPr>
          <a:xfrm>
            <a:off x="457200" y="3063240"/>
            <a:ext cx="8229600" cy="274320"/>
          </a:xfrm>
          <a:prstGeom prst="rect">
            <a:avLst/>
          </a:prstGeom>
          <a:noFill/>
          <a:ln/>
        </p:spPr>
        <p:txBody>
          <a:bodyPr wrap="square" lIns="0" tIns="0" rIns="0" bIns="0" rtlCol="0" anchor="ctr"/>
          <a:lstStyle/>
          <a:p>
            <a:pPr indent="0" marL="0">
              <a:buNone/>
            </a:pPr>
            <a:r>
              <a:rPr lang="en-US" sz="1100" b="1" spc="300" kern="0" dirty="0">
                <a:solidFill>
                  <a:srgbClr val="B5651D"/>
                </a:solidFill>
                <a:latin typeface="Georgia" pitchFamily="34" charset="0"/>
                <a:ea typeface="Georgia" pitchFamily="34" charset="-122"/>
                <a:cs typeface="Georgia" pitchFamily="34" charset="-120"/>
              </a:rPr>
              <a:t>STATUS</a:t>
            </a:r>
            <a:endParaRPr lang="en-US" sz="1100" dirty="0"/>
          </a:p>
        </p:txBody>
      </p:sp>
      <p:sp>
        <p:nvSpPr>
          <p:cNvPr id="32" name="Text 30"/>
          <p:cNvSpPr/>
          <p:nvPr/>
        </p:nvSpPr>
        <p:spPr>
          <a:xfrm>
            <a:off x="457200" y="3429000"/>
            <a:ext cx="2011680" cy="256032"/>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Phases I–III  </a:t>
            </a:r>
            <a:endParaRPr lang="en-US" sz="1100" dirty="0"/>
          </a:p>
        </p:txBody>
      </p:sp>
      <p:sp>
        <p:nvSpPr>
          <p:cNvPr id="33" name="Shape 31"/>
          <p:cNvSpPr/>
          <p:nvPr/>
        </p:nvSpPr>
        <p:spPr>
          <a:xfrm>
            <a:off x="2560320" y="3502152"/>
            <a:ext cx="5029200" cy="137160"/>
          </a:xfrm>
          <a:prstGeom prst="rect">
            <a:avLst/>
          </a:prstGeom>
          <a:solidFill>
            <a:srgbClr val="E5E7EB"/>
          </a:solidFill>
          <a:ln w="12700">
            <a:solidFill>
              <a:srgbClr val="E5E7EB"/>
            </a:solidFill>
            <a:prstDash val="solid"/>
          </a:ln>
        </p:spPr>
      </p:sp>
      <p:sp>
        <p:nvSpPr>
          <p:cNvPr id="34" name="Shape 32"/>
          <p:cNvSpPr/>
          <p:nvPr/>
        </p:nvSpPr>
        <p:spPr>
          <a:xfrm>
            <a:off x="2560320" y="3502152"/>
            <a:ext cx="5029200" cy="137160"/>
          </a:xfrm>
          <a:prstGeom prst="rect">
            <a:avLst/>
          </a:prstGeom>
          <a:solidFill>
            <a:srgbClr val="1E2761"/>
          </a:solidFill>
          <a:ln w="12700">
            <a:solidFill>
              <a:srgbClr val="1E2761"/>
            </a:solidFill>
            <a:prstDash val="solid"/>
          </a:ln>
        </p:spPr>
      </p:sp>
      <p:sp>
        <p:nvSpPr>
          <p:cNvPr id="35" name="Text 33"/>
          <p:cNvSpPr/>
          <p:nvPr/>
        </p:nvSpPr>
        <p:spPr>
          <a:xfrm>
            <a:off x="7680960" y="3429000"/>
            <a:ext cx="1097280" cy="256032"/>
          </a:xfrm>
          <a:prstGeom prst="rect">
            <a:avLst/>
          </a:prstGeom>
          <a:noFill/>
          <a:ln/>
        </p:spPr>
        <p:txBody>
          <a:bodyPr wrap="square" lIns="0" tIns="0" rIns="0" bIns="0" rtlCol="0" anchor="ctr"/>
          <a:lstStyle/>
          <a:p>
            <a:pPr indent="0" marL="0">
              <a:buNone/>
            </a:pPr>
            <a:r>
              <a:rPr lang="en-US" sz="1000" i="1" dirty="0">
                <a:solidFill>
                  <a:srgbClr val="5C6B95"/>
                </a:solidFill>
                <a:latin typeface="Calibri" pitchFamily="34" charset="0"/>
                <a:ea typeface="Calibri" pitchFamily="34" charset="-122"/>
                <a:cs typeface="Calibri" pitchFamily="34" charset="-120"/>
              </a:rPr>
              <a:t>100% · Completed</a:t>
            </a:r>
            <a:endParaRPr lang="en-US" sz="1000" dirty="0"/>
          </a:p>
        </p:txBody>
      </p:sp>
      <p:sp>
        <p:nvSpPr>
          <p:cNvPr id="36" name="Text 34"/>
          <p:cNvSpPr/>
          <p:nvPr/>
        </p:nvSpPr>
        <p:spPr>
          <a:xfrm>
            <a:off x="457200" y="3758184"/>
            <a:ext cx="2011680" cy="256032"/>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Phase IV (Unit)</a:t>
            </a:r>
            <a:endParaRPr lang="en-US" sz="1100" dirty="0"/>
          </a:p>
        </p:txBody>
      </p:sp>
      <p:sp>
        <p:nvSpPr>
          <p:cNvPr id="37" name="Shape 35"/>
          <p:cNvSpPr/>
          <p:nvPr/>
        </p:nvSpPr>
        <p:spPr>
          <a:xfrm>
            <a:off x="2560320" y="3831336"/>
            <a:ext cx="5029200" cy="137160"/>
          </a:xfrm>
          <a:prstGeom prst="rect">
            <a:avLst/>
          </a:prstGeom>
          <a:solidFill>
            <a:srgbClr val="E5E7EB"/>
          </a:solidFill>
          <a:ln w="12700">
            <a:solidFill>
              <a:srgbClr val="E5E7EB"/>
            </a:solidFill>
            <a:prstDash val="solid"/>
          </a:ln>
        </p:spPr>
      </p:sp>
      <p:sp>
        <p:nvSpPr>
          <p:cNvPr id="38" name="Shape 36"/>
          <p:cNvSpPr/>
          <p:nvPr/>
        </p:nvSpPr>
        <p:spPr>
          <a:xfrm>
            <a:off x="2560320" y="3831336"/>
            <a:ext cx="4023360" cy="137160"/>
          </a:xfrm>
          <a:prstGeom prst="rect">
            <a:avLst/>
          </a:prstGeom>
          <a:solidFill>
            <a:srgbClr val="1E2761"/>
          </a:solidFill>
          <a:ln w="12700">
            <a:solidFill>
              <a:srgbClr val="1E2761"/>
            </a:solidFill>
            <a:prstDash val="solid"/>
          </a:ln>
        </p:spPr>
      </p:sp>
      <p:sp>
        <p:nvSpPr>
          <p:cNvPr id="39" name="Text 37"/>
          <p:cNvSpPr/>
          <p:nvPr/>
        </p:nvSpPr>
        <p:spPr>
          <a:xfrm>
            <a:off x="7680960" y="3758184"/>
            <a:ext cx="1097280" cy="256032"/>
          </a:xfrm>
          <a:prstGeom prst="rect">
            <a:avLst/>
          </a:prstGeom>
          <a:noFill/>
          <a:ln/>
        </p:spPr>
        <p:txBody>
          <a:bodyPr wrap="square" lIns="0" tIns="0" rIns="0" bIns="0" rtlCol="0" anchor="ctr"/>
          <a:lstStyle/>
          <a:p>
            <a:pPr indent="0" marL="0">
              <a:buNone/>
            </a:pPr>
            <a:r>
              <a:rPr lang="en-US" sz="1000" i="1" dirty="0">
                <a:solidFill>
                  <a:srgbClr val="5C6B95"/>
                </a:solidFill>
                <a:latin typeface="Calibri" pitchFamily="34" charset="0"/>
                <a:ea typeface="Calibri" pitchFamily="34" charset="-122"/>
                <a:cs typeface="Calibri" pitchFamily="34" charset="-120"/>
              </a:rPr>
              <a:t>80% · Mostly done</a:t>
            </a:r>
            <a:endParaRPr lang="en-US" sz="1000" dirty="0"/>
          </a:p>
        </p:txBody>
      </p:sp>
      <p:sp>
        <p:nvSpPr>
          <p:cNvPr id="40" name="Text 38"/>
          <p:cNvSpPr/>
          <p:nvPr/>
        </p:nvSpPr>
        <p:spPr>
          <a:xfrm>
            <a:off x="457200" y="4087368"/>
            <a:ext cx="2011680" cy="256032"/>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Phase V (QA)</a:t>
            </a:r>
            <a:endParaRPr lang="en-US" sz="1100" dirty="0"/>
          </a:p>
        </p:txBody>
      </p:sp>
      <p:sp>
        <p:nvSpPr>
          <p:cNvPr id="41" name="Shape 39"/>
          <p:cNvSpPr/>
          <p:nvPr/>
        </p:nvSpPr>
        <p:spPr>
          <a:xfrm>
            <a:off x="2560320" y="4160520"/>
            <a:ext cx="5029200" cy="137160"/>
          </a:xfrm>
          <a:prstGeom prst="rect">
            <a:avLst/>
          </a:prstGeom>
          <a:solidFill>
            <a:srgbClr val="E5E7EB"/>
          </a:solidFill>
          <a:ln w="12700">
            <a:solidFill>
              <a:srgbClr val="E5E7EB"/>
            </a:solidFill>
            <a:prstDash val="solid"/>
          </a:ln>
        </p:spPr>
      </p:sp>
      <p:sp>
        <p:nvSpPr>
          <p:cNvPr id="42" name="Shape 40"/>
          <p:cNvSpPr/>
          <p:nvPr/>
        </p:nvSpPr>
        <p:spPr>
          <a:xfrm>
            <a:off x="2560320" y="4160520"/>
            <a:ext cx="2766060" cy="137160"/>
          </a:xfrm>
          <a:prstGeom prst="rect">
            <a:avLst/>
          </a:prstGeom>
          <a:solidFill>
            <a:srgbClr val="1E2761"/>
          </a:solidFill>
          <a:ln w="12700">
            <a:solidFill>
              <a:srgbClr val="1E2761"/>
            </a:solidFill>
            <a:prstDash val="solid"/>
          </a:ln>
        </p:spPr>
      </p:sp>
      <p:sp>
        <p:nvSpPr>
          <p:cNvPr id="43" name="Text 41"/>
          <p:cNvSpPr/>
          <p:nvPr/>
        </p:nvSpPr>
        <p:spPr>
          <a:xfrm>
            <a:off x="7680960" y="4087368"/>
            <a:ext cx="1097280" cy="256032"/>
          </a:xfrm>
          <a:prstGeom prst="rect">
            <a:avLst/>
          </a:prstGeom>
          <a:noFill/>
          <a:ln/>
        </p:spPr>
        <p:txBody>
          <a:bodyPr wrap="square" lIns="0" tIns="0" rIns="0" bIns="0" rtlCol="0" anchor="ctr"/>
          <a:lstStyle/>
          <a:p>
            <a:pPr indent="0" marL="0">
              <a:buNone/>
            </a:pPr>
            <a:r>
              <a:rPr lang="en-US" sz="1000" i="1" dirty="0">
                <a:solidFill>
                  <a:srgbClr val="5C6B95"/>
                </a:solidFill>
                <a:latin typeface="Calibri" pitchFamily="34" charset="0"/>
                <a:ea typeface="Calibri" pitchFamily="34" charset="-122"/>
                <a:cs typeface="Calibri" pitchFamily="34" charset="-120"/>
              </a:rPr>
              <a:t>55% · In progress</a:t>
            </a:r>
            <a:endParaRPr lang="en-US" sz="1000" dirty="0"/>
          </a:p>
        </p:txBody>
      </p:sp>
      <p:sp>
        <p:nvSpPr>
          <p:cNvPr id="44" name="Text 42"/>
          <p:cNvSpPr/>
          <p:nvPr/>
        </p:nvSpPr>
        <p:spPr>
          <a:xfrm>
            <a:off x="457200" y="4416552"/>
            <a:ext cx="2011680" cy="256032"/>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Phase VI</a:t>
            </a:r>
            <a:endParaRPr lang="en-US" sz="1100" dirty="0"/>
          </a:p>
        </p:txBody>
      </p:sp>
      <p:sp>
        <p:nvSpPr>
          <p:cNvPr id="45" name="Shape 43"/>
          <p:cNvSpPr/>
          <p:nvPr/>
        </p:nvSpPr>
        <p:spPr>
          <a:xfrm>
            <a:off x="2560320" y="4489704"/>
            <a:ext cx="5029200" cy="137160"/>
          </a:xfrm>
          <a:prstGeom prst="rect">
            <a:avLst/>
          </a:prstGeom>
          <a:solidFill>
            <a:srgbClr val="E5E7EB"/>
          </a:solidFill>
          <a:ln w="12700">
            <a:solidFill>
              <a:srgbClr val="E5E7EB"/>
            </a:solidFill>
            <a:prstDash val="solid"/>
          </a:ln>
        </p:spPr>
      </p:sp>
      <p:sp>
        <p:nvSpPr>
          <p:cNvPr id="46" name="Shape 44"/>
          <p:cNvSpPr/>
          <p:nvPr/>
        </p:nvSpPr>
        <p:spPr>
          <a:xfrm>
            <a:off x="2560320" y="4489704"/>
            <a:ext cx="2011680" cy="137160"/>
          </a:xfrm>
          <a:prstGeom prst="rect">
            <a:avLst/>
          </a:prstGeom>
          <a:solidFill>
            <a:srgbClr val="1E2761"/>
          </a:solidFill>
          <a:ln w="12700">
            <a:solidFill>
              <a:srgbClr val="1E2761"/>
            </a:solidFill>
            <a:prstDash val="solid"/>
          </a:ln>
        </p:spPr>
      </p:sp>
      <p:sp>
        <p:nvSpPr>
          <p:cNvPr id="47" name="Text 45"/>
          <p:cNvSpPr/>
          <p:nvPr/>
        </p:nvSpPr>
        <p:spPr>
          <a:xfrm>
            <a:off x="7680960" y="4416552"/>
            <a:ext cx="1097280" cy="256032"/>
          </a:xfrm>
          <a:prstGeom prst="rect">
            <a:avLst/>
          </a:prstGeom>
          <a:noFill/>
          <a:ln/>
        </p:spPr>
        <p:txBody>
          <a:bodyPr wrap="square" lIns="0" tIns="0" rIns="0" bIns="0" rtlCol="0" anchor="ctr"/>
          <a:lstStyle/>
          <a:p>
            <a:pPr indent="0" marL="0">
              <a:buNone/>
            </a:pPr>
            <a:r>
              <a:rPr lang="en-US" sz="1000" i="1" dirty="0">
                <a:solidFill>
                  <a:srgbClr val="5C6B95"/>
                </a:solidFill>
                <a:latin typeface="Calibri" pitchFamily="34" charset="0"/>
                <a:ea typeface="Calibri" pitchFamily="34" charset="-122"/>
                <a:cs typeface="Calibri" pitchFamily="34" charset="-120"/>
              </a:rPr>
              <a:t>40% · Active now</a:t>
            </a:r>
            <a:endParaRPr lang="en-US" sz="1000" dirty="0"/>
          </a:p>
        </p:txBody>
      </p:sp>
      <p:sp>
        <p:nvSpPr>
          <p:cNvPr id="48" name="Shape 46"/>
          <p:cNvSpPr/>
          <p:nvPr/>
        </p:nvSpPr>
        <p:spPr>
          <a:xfrm>
            <a:off x="0" y="4937760"/>
            <a:ext cx="9144000" cy="27432"/>
          </a:xfrm>
          <a:prstGeom prst="rect">
            <a:avLst/>
          </a:prstGeom>
          <a:solidFill>
            <a:srgbClr val="CFD4E6"/>
          </a:solidFill>
          <a:ln w="12700">
            <a:solidFill>
              <a:srgbClr val="CFD4E6"/>
            </a:solidFill>
            <a:prstDash val="solid"/>
          </a:ln>
        </p:spPr>
      </p:sp>
      <p:sp>
        <p:nvSpPr>
          <p:cNvPr id="49" name="Text 47"/>
          <p:cNvSpPr/>
          <p:nvPr/>
        </p:nvSpPr>
        <p:spPr>
          <a:xfrm>
            <a:off x="457200" y="4965192"/>
            <a:ext cx="6400800" cy="182880"/>
          </a:xfrm>
          <a:prstGeom prst="rect">
            <a:avLst/>
          </a:prstGeom>
          <a:noFill/>
          <a:ln/>
        </p:spPr>
        <p:txBody>
          <a:bodyPr wrap="square" lIns="0" tIns="0" rIns="0" bIns="0" rtlCol="0" anchor="ctr"/>
          <a:lstStyle/>
          <a:p>
            <a:pPr indent="0" marL="0">
              <a:buNone/>
            </a:pPr>
            <a:r>
              <a:rPr lang="en-US" sz="900" dirty="0">
                <a:solidFill>
                  <a:srgbClr val="5C6B95"/>
                </a:solidFill>
                <a:latin typeface="Calibri" pitchFamily="34" charset="0"/>
                <a:ea typeface="Calibri" pitchFamily="34" charset="-122"/>
                <a:cs typeface="Calibri" pitchFamily="34" charset="-120"/>
              </a:rPr>
              <a:t>AI Interview Platform · Project Report</a:t>
            </a:r>
            <a:endParaRPr lang="en-US" sz="900" dirty="0"/>
          </a:p>
        </p:txBody>
      </p:sp>
      <p:sp>
        <p:nvSpPr>
          <p:cNvPr id="50" name="Text 48"/>
          <p:cNvSpPr/>
          <p:nvPr/>
        </p:nvSpPr>
        <p:spPr>
          <a:xfrm>
            <a:off x="8412480" y="4965192"/>
            <a:ext cx="365760" cy="182880"/>
          </a:xfrm>
          <a:prstGeom prst="rect">
            <a:avLst/>
          </a:prstGeom>
          <a:noFill/>
          <a:ln/>
        </p:spPr>
        <p:txBody>
          <a:bodyPr wrap="square" lIns="0" tIns="0" rIns="0" bIns="0" rtlCol="0" anchor="ctr"/>
          <a:lstStyle/>
          <a:p>
            <a:pPr algn="r" indent="0" marL="0">
              <a:buNone/>
            </a:pPr>
            <a:r>
              <a:rPr lang="en-US" sz="900" dirty="0">
                <a:solidFill>
                  <a:srgbClr val="5C6B9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457200" y="411480"/>
            <a:ext cx="411480" cy="320040"/>
          </a:xfrm>
          <a:prstGeom prst="rect">
            <a:avLst/>
          </a:prstGeom>
          <a:solidFill>
            <a:srgbClr val="1E2761"/>
          </a:solidFill>
          <a:ln w="12700">
            <a:solidFill>
              <a:srgbClr val="1E2761"/>
            </a:solidFill>
            <a:prstDash val="solid"/>
          </a:ln>
        </p:spPr>
      </p:sp>
      <p:sp>
        <p:nvSpPr>
          <p:cNvPr id="3" name="Text 1"/>
          <p:cNvSpPr/>
          <p:nvPr/>
        </p:nvSpPr>
        <p:spPr>
          <a:xfrm>
            <a:off x="457200" y="411480"/>
            <a:ext cx="4114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07</a:t>
            </a:r>
            <a:endParaRPr lang="en-US" sz="1400" dirty="0"/>
          </a:p>
        </p:txBody>
      </p:sp>
      <p:sp>
        <p:nvSpPr>
          <p:cNvPr id="4" name="Text 2"/>
          <p:cNvSpPr/>
          <p:nvPr/>
        </p:nvSpPr>
        <p:spPr>
          <a:xfrm>
            <a:off x="1005840" y="365760"/>
            <a:ext cx="822960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Implementation Modules</a:t>
            </a:r>
            <a:endParaRPr lang="en-US" sz="2600" dirty="0"/>
          </a:p>
        </p:txBody>
      </p:sp>
      <p:sp>
        <p:nvSpPr>
          <p:cNvPr id="5" name="Shape 3"/>
          <p:cNvSpPr/>
          <p:nvPr/>
        </p:nvSpPr>
        <p:spPr>
          <a:xfrm>
            <a:off x="1005840" y="896112"/>
            <a:ext cx="548640" cy="36576"/>
          </a:xfrm>
          <a:prstGeom prst="rect">
            <a:avLst/>
          </a:prstGeom>
          <a:solidFill>
            <a:srgbClr val="B5651D"/>
          </a:solidFill>
          <a:ln w="12700">
            <a:solidFill>
              <a:srgbClr val="B5651D"/>
            </a:solidFill>
            <a:prstDash val="solid"/>
          </a:ln>
        </p:spPr>
      </p:sp>
      <p:sp>
        <p:nvSpPr>
          <p:cNvPr id="6" name="Text 4"/>
          <p:cNvSpPr/>
          <p:nvPr/>
        </p:nvSpPr>
        <p:spPr>
          <a:xfrm>
            <a:off x="1005840" y="960120"/>
            <a:ext cx="8229600" cy="274320"/>
          </a:xfrm>
          <a:prstGeom prst="rect">
            <a:avLst/>
          </a:prstGeom>
          <a:noFill/>
          <a:ln/>
        </p:spPr>
        <p:txBody>
          <a:bodyPr wrap="square" lIns="0" tIns="0" rIns="0" bIns="0" rtlCol="0" anchor="ctr"/>
          <a:lstStyle/>
          <a:p>
            <a:pPr indent="0" marL="0">
              <a:buNone/>
            </a:pPr>
            <a:r>
              <a:rPr lang="en-US" sz="1200" i="1" dirty="0">
                <a:solidFill>
                  <a:srgbClr val="5C6B95"/>
                </a:solidFill>
                <a:latin typeface="Calibri" pitchFamily="34" charset="0"/>
                <a:ea typeface="Calibri" pitchFamily="34" charset="-122"/>
                <a:cs typeface="Calibri" pitchFamily="34" charset="-120"/>
              </a:rPr>
              <a:t>Major modules and their responsibilities</a:t>
            </a:r>
            <a:endParaRPr lang="en-US" sz="1200" dirty="0"/>
          </a:p>
        </p:txBody>
      </p:sp>
      <p:sp>
        <p:nvSpPr>
          <p:cNvPr id="7" name="Shape 5"/>
          <p:cNvSpPr/>
          <p:nvPr/>
        </p:nvSpPr>
        <p:spPr>
          <a:xfrm>
            <a:off x="457200" y="1417320"/>
            <a:ext cx="4023360" cy="1051560"/>
          </a:xfrm>
          <a:prstGeom prst="rect">
            <a:avLst/>
          </a:prstGeom>
          <a:solidFill>
            <a:srgbClr val="FFFFFF"/>
          </a:solidFill>
          <a:ln w="12700">
            <a:solidFill>
              <a:srgbClr val="CFD4E6"/>
            </a:solidFill>
            <a:prstDash val="solid"/>
          </a:ln>
          <a:effectLst>
            <a:outerShdw sx="100000" sy="100000" kx="0" ky="0" algn="bl" rotWithShape="0" blurRad="127000" dist="38100" dir="8100000">
              <a:srgbClr val="000000">
                <a:alpha val="8000"/>
              </a:srgbClr>
            </a:outerShdw>
          </a:effectLst>
        </p:spPr>
      </p:sp>
      <p:sp>
        <p:nvSpPr>
          <p:cNvPr id="8" name="Shape 6"/>
          <p:cNvSpPr/>
          <p:nvPr/>
        </p:nvSpPr>
        <p:spPr>
          <a:xfrm>
            <a:off x="457200" y="1417320"/>
            <a:ext cx="640080" cy="1051560"/>
          </a:xfrm>
          <a:prstGeom prst="rect">
            <a:avLst/>
          </a:prstGeom>
          <a:solidFill>
            <a:srgbClr val="1E2761"/>
          </a:solidFill>
          <a:ln w="12700">
            <a:solidFill>
              <a:srgbClr val="1E2761"/>
            </a:solidFill>
            <a:prstDash val="solid"/>
          </a:ln>
        </p:spPr>
      </p:sp>
      <p:sp>
        <p:nvSpPr>
          <p:cNvPr id="9" name="Text 7"/>
          <p:cNvSpPr/>
          <p:nvPr/>
        </p:nvSpPr>
        <p:spPr>
          <a:xfrm>
            <a:off x="457200" y="1737360"/>
            <a:ext cx="640080" cy="411480"/>
          </a:xfrm>
          <a:prstGeom prst="rect">
            <a:avLst/>
          </a:prstGeom>
          <a:noFill/>
          <a:ln/>
        </p:spPr>
        <p:txBody>
          <a:bodyPr wrap="square" lIns="0" tIns="0" rIns="0" bIns="0" rtlCol="0" anchor="ctr"/>
          <a:lstStyle/>
          <a:p>
            <a:pPr algn="ctr" indent="0" marL="0">
              <a:buNone/>
            </a:pPr>
            <a:r>
              <a:rPr lang="en-US" sz="1800" b="1" dirty="0">
                <a:solidFill>
                  <a:srgbClr val="B5651D"/>
                </a:solidFill>
                <a:latin typeface="Georgia" pitchFamily="34" charset="0"/>
                <a:ea typeface="Georgia" pitchFamily="34" charset="-122"/>
                <a:cs typeface="Georgia" pitchFamily="34" charset="-120"/>
              </a:rPr>
              <a:t>M1</a:t>
            </a:r>
            <a:endParaRPr lang="en-US" sz="1800" dirty="0"/>
          </a:p>
        </p:txBody>
      </p:sp>
      <p:sp>
        <p:nvSpPr>
          <p:cNvPr id="10" name="Text 8"/>
          <p:cNvSpPr/>
          <p:nvPr/>
        </p:nvSpPr>
        <p:spPr>
          <a:xfrm>
            <a:off x="1234440" y="1554480"/>
            <a:ext cx="3200400" cy="320040"/>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Authentication Module</a:t>
            </a:r>
            <a:endParaRPr lang="en-US" sz="1200" dirty="0"/>
          </a:p>
        </p:txBody>
      </p:sp>
      <p:sp>
        <p:nvSpPr>
          <p:cNvPr id="11" name="Text 9"/>
          <p:cNvSpPr/>
          <p:nvPr/>
        </p:nvSpPr>
        <p:spPr>
          <a:xfrm>
            <a:off x="1234440" y="1856232"/>
            <a:ext cx="3200400" cy="566928"/>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Registration, OTP verification, login, password reset, account deletion.</a:t>
            </a:r>
            <a:endParaRPr lang="en-US" sz="1100" dirty="0"/>
          </a:p>
        </p:txBody>
      </p:sp>
      <p:sp>
        <p:nvSpPr>
          <p:cNvPr id="12" name="Shape 10"/>
          <p:cNvSpPr/>
          <p:nvPr/>
        </p:nvSpPr>
        <p:spPr>
          <a:xfrm>
            <a:off x="4663440" y="1417320"/>
            <a:ext cx="4023360" cy="1051560"/>
          </a:xfrm>
          <a:prstGeom prst="rect">
            <a:avLst/>
          </a:prstGeom>
          <a:solidFill>
            <a:srgbClr val="FFFFFF"/>
          </a:solidFill>
          <a:ln w="12700">
            <a:solidFill>
              <a:srgbClr val="CFD4E6"/>
            </a:solidFill>
            <a:prstDash val="solid"/>
          </a:ln>
          <a:effectLst>
            <a:outerShdw sx="100000" sy="100000" kx="0" ky="0" algn="bl" rotWithShape="0" blurRad="127000" dist="38100" dir="8100000">
              <a:srgbClr val="000000">
                <a:alpha val="8000"/>
              </a:srgbClr>
            </a:outerShdw>
          </a:effectLst>
        </p:spPr>
      </p:sp>
      <p:sp>
        <p:nvSpPr>
          <p:cNvPr id="13" name="Shape 11"/>
          <p:cNvSpPr/>
          <p:nvPr/>
        </p:nvSpPr>
        <p:spPr>
          <a:xfrm>
            <a:off x="4663440" y="1417320"/>
            <a:ext cx="640080" cy="1051560"/>
          </a:xfrm>
          <a:prstGeom prst="rect">
            <a:avLst/>
          </a:prstGeom>
          <a:solidFill>
            <a:srgbClr val="1E2761"/>
          </a:solidFill>
          <a:ln w="12700">
            <a:solidFill>
              <a:srgbClr val="1E2761"/>
            </a:solidFill>
            <a:prstDash val="solid"/>
          </a:ln>
        </p:spPr>
      </p:sp>
      <p:sp>
        <p:nvSpPr>
          <p:cNvPr id="14" name="Text 12"/>
          <p:cNvSpPr/>
          <p:nvPr/>
        </p:nvSpPr>
        <p:spPr>
          <a:xfrm>
            <a:off x="4663440" y="1737360"/>
            <a:ext cx="640080" cy="411480"/>
          </a:xfrm>
          <a:prstGeom prst="rect">
            <a:avLst/>
          </a:prstGeom>
          <a:noFill/>
          <a:ln/>
        </p:spPr>
        <p:txBody>
          <a:bodyPr wrap="square" lIns="0" tIns="0" rIns="0" bIns="0" rtlCol="0" anchor="ctr"/>
          <a:lstStyle/>
          <a:p>
            <a:pPr algn="ctr" indent="0" marL="0">
              <a:buNone/>
            </a:pPr>
            <a:r>
              <a:rPr lang="en-US" sz="1800" b="1" dirty="0">
                <a:solidFill>
                  <a:srgbClr val="B5651D"/>
                </a:solidFill>
                <a:latin typeface="Georgia" pitchFamily="34" charset="0"/>
                <a:ea typeface="Georgia" pitchFamily="34" charset="-122"/>
                <a:cs typeface="Georgia" pitchFamily="34" charset="-120"/>
              </a:rPr>
              <a:t>M2</a:t>
            </a:r>
            <a:endParaRPr lang="en-US" sz="1800" dirty="0"/>
          </a:p>
        </p:txBody>
      </p:sp>
      <p:sp>
        <p:nvSpPr>
          <p:cNvPr id="15" name="Text 13"/>
          <p:cNvSpPr/>
          <p:nvPr/>
        </p:nvSpPr>
        <p:spPr>
          <a:xfrm>
            <a:off x="5440680" y="1554480"/>
            <a:ext cx="3200400" cy="320040"/>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Resume Module</a:t>
            </a:r>
            <a:endParaRPr lang="en-US" sz="1200" dirty="0"/>
          </a:p>
        </p:txBody>
      </p:sp>
      <p:sp>
        <p:nvSpPr>
          <p:cNvPr id="16" name="Text 14"/>
          <p:cNvSpPr/>
          <p:nvPr/>
        </p:nvSpPr>
        <p:spPr>
          <a:xfrm>
            <a:off x="5440680" y="1856232"/>
            <a:ext cx="3200400" cy="566928"/>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PDF parsing, skill extraction using spaCy en_core_web_trf.</a:t>
            </a:r>
            <a:endParaRPr lang="en-US" sz="1100" dirty="0"/>
          </a:p>
        </p:txBody>
      </p:sp>
      <p:sp>
        <p:nvSpPr>
          <p:cNvPr id="17" name="Shape 15"/>
          <p:cNvSpPr/>
          <p:nvPr/>
        </p:nvSpPr>
        <p:spPr>
          <a:xfrm>
            <a:off x="457200" y="2560320"/>
            <a:ext cx="4023360" cy="1051560"/>
          </a:xfrm>
          <a:prstGeom prst="rect">
            <a:avLst/>
          </a:prstGeom>
          <a:solidFill>
            <a:srgbClr val="FFFFFF"/>
          </a:solidFill>
          <a:ln w="12700">
            <a:solidFill>
              <a:srgbClr val="CFD4E6"/>
            </a:solidFill>
            <a:prstDash val="solid"/>
          </a:ln>
          <a:effectLst>
            <a:outerShdw sx="100000" sy="100000" kx="0" ky="0" algn="bl" rotWithShape="0" blurRad="127000" dist="38100" dir="8100000">
              <a:srgbClr val="000000">
                <a:alpha val="8000"/>
              </a:srgbClr>
            </a:outerShdw>
          </a:effectLst>
        </p:spPr>
      </p:sp>
      <p:sp>
        <p:nvSpPr>
          <p:cNvPr id="18" name="Shape 16"/>
          <p:cNvSpPr/>
          <p:nvPr/>
        </p:nvSpPr>
        <p:spPr>
          <a:xfrm>
            <a:off x="457200" y="2560320"/>
            <a:ext cx="640080" cy="1051560"/>
          </a:xfrm>
          <a:prstGeom prst="rect">
            <a:avLst/>
          </a:prstGeom>
          <a:solidFill>
            <a:srgbClr val="1E2761"/>
          </a:solidFill>
          <a:ln w="12700">
            <a:solidFill>
              <a:srgbClr val="1E2761"/>
            </a:solidFill>
            <a:prstDash val="solid"/>
          </a:ln>
        </p:spPr>
      </p:sp>
      <p:sp>
        <p:nvSpPr>
          <p:cNvPr id="19" name="Text 17"/>
          <p:cNvSpPr/>
          <p:nvPr/>
        </p:nvSpPr>
        <p:spPr>
          <a:xfrm>
            <a:off x="457200" y="2880360"/>
            <a:ext cx="640080" cy="411480"/>
          </a:xfrm>
          <a:prstGeom prst="rect">
            <a:avLst/>
          </a:prstGeom>
          <a:noFill/>
          <a:ln/>
        </p:spPr>
        <p:txBody>
          <a:bodyPr wrap="square" lIns="0" tIns="0" rIns="0" bIns="0" rtlCol="0" anchor="ctr"/>
          <a:lstStyle/>
          <a:p>
            <a:pPr algn="ctr" indent="0" marL="0">
              <a:buNone/>
            </a:pPr>
            <a:r>
              <a:rPr lang="en-US" sz="1800" b="1" dirty="0">
                <a:solidFill>
                  <a:srgbClr val="B5651D"/>
                </a:solidFill>
                <a:latin typeface="Georgia" pitchFamily="34" charset="0"/>
                <a:ea typeface="Georgia" pitchFamily="34" charset="-122"/>
                <a:cs typeface="Georgia" pitchFamily="34" charset="-120"/>
              </a:rPr>
              <a:t>M3</a:t>
            </a:r>
            <a:endParaRPr lang="en-US" sz="1800" dirty="0"/>
          </a:p>
        </p:txBody>
      </p:sp>
      <p:sp>
        <p:nvSpPr>
          <p:cNvPr id="20" name="Text 18"/>
          <p:cNvSpPr/>
          <p:nvPr/>
        </p:nvSpPr>
        <p:spPr>
          <a:xfrm>
            <a:off x="1234440" y="2697480"/>
            <a:ext cx="3200400" cy="320040"/>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Interview Module</a:t>
            </a:r>
            <a:endParaRPr lang="en-US" sz="1200" dirty="0"/>
          </a:p>
        </p:txBody>
      </p:sp>
      <p:sp>
        <p:nvSpPr>
          <p:cNvPr id="21" name="Text 19"/>
          <p:cNvSpPr/>
          <p:nvPr/>
        </p:nvSpPr>
        <p:spPr>
          <a:xfrm>
            <a:off x="1234440" y="2999232"/>
            <a:ext cx="3200400" cy="566928"/>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Session setup, consent flow, question generation via Groq LLM.</a:t>
            </a:r>
            <a:endParaRPr lang="en-US" sz="1100" dirty="0"/>
          </a:p>
        </p:txBody>
      </p:sp>
      <p:sp>
        <p:nvSpPr>
          <p:cNvPr id="22" name="Shape 20"/>
          <p:cNvSpPr/>
          <p:nvPr/>
        </p:nvSpPr>
        <p:spPr>
          <a:xfrm>
            <a:off x="4663440" y="2560320"/>
            <a:ext cx="4023360" cy="1051560"/>
          </a:xfrm>
          <a:prstGeom prst="rect">
            <a:avLst/>
          </a:prstGeom>
          <a:solidFill>
            <a:srgbClr val="FFFFFF"/>
          </a:solidFill>
          <a:ln w="12700">
            <a:solidFill>
              <a:srgbClr val="CFD4E6"/>
            </a:solidFill>
            <a:prstDash val="solid"/>
          </a:ln>
          <a:effectLst>
            <a:outerShdw sx="100000" sy="100000" kx="0" ky="0" algn="bl" rotWithShape="0" blurRad="127000" dist="38100" dir="8100000">
              <a:srgbClr val="000000">
                <a:alpha val="8000"/>
              </a:srgbClr>
            </a:outerShdw>
          </a:effectLst>
        </p:spPr>
      </p:sp>
      <p:sp>
        <p:nvSpPr>
          <p:cNvPr id="23" name="Shape 21"/>
          <p:cNvSpPr/>
          <p:nvPr/>
        </p:nvSpPr>
        <p:spPr>
          <a:xfrm>
            <a:off x="4663440" y="2560320"/>
            <a:ext cx="640080" cy="1051560"/>
          </a:xfrm>
          <a:prstGeom prst="rect">
            <a:avLst/>
          </a:prstGeom>
          <a:solidFill>
            <a:srgbClr val="1E2761"/>
          </a:solidFill>
          <a:ln w="12700">
            <a:solidFill>
              <a:srgbClr val="1E2761"/>
            </a:solidFill>
            <a:prstDash val="solid"/>
          </a:ln>
        </p:spPr>
      </p:sp>
      <p:sp>
        <p:nvSpPr>
          <p:cNvPr id="24" name="Text 22"/>
          <p:cNvSpPr/>
          <p:nvPr/>
        </p:nvSpPr>
        <p:spPr>
          <a:xfrm>
            <a:off x="4663440" y="2880360"/>
            <a:ext cx="640080" cy="411480"/>
          </a:xfrm>
          <a:prstGeom prst="rect">
            <a:avLst/>
          </a:prstGeom>
          <a:noFill/>
          <a:ln/>
        </p:spPr>
        <p:txBody>
          <a:bodyPr wrap="square" lIns="0" tIns="0" rIns="0" bIns="0" rtlCol="0" anchor="ctr"/>
          <a:lstStyle/>
          <a:p>
            <a:pPr algn="ctr" indent="0" marL="0">
              <a:buNone/>
            </a:pPr>
            <a:r>
              <a:rPr lang="en-US" sz="1800" b="1" dirty="0">
                <a:solidFill>
                  <a:srgbClr val="B5651D"/>
                </a:solidFill>
                <a:latin typeface="Georgia" pitchFamily="34" charset="0"/>
                <a:ea typeface="Georgia" pitchFamily="34" charset="-122"/>
                <a:cs typeface="Georgia" pitchFamily="34" charset="-120"/>
              </a:rPr>
              <a:t>M4</a:t>
            </a:r>
            <a:endParaRPr lang="en-US" sz="1800" dirty="0"/>
          </a:p>
        </p:txBody>
      </p:sp>
      <p:sp>
        <p:nvSpPr>
          <p:cNvPr id="25" name="Text 23"/>
          <p:cNvSpPr/>
          <p:nvPr/>
        </p:nvSpPr>
        <p:spPr>
          <a:xfrm>
            <a:off x="5440680" y="2697480"/>
            <a:ext cx="3200400" cy="320040"/>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Voice Module</a:t>
            </a:r>
            <a:endParaRPr lang="en-US" sz="1200" dirty="0"/>
          </a:p>
        </p:txBody>
      </p:sp>
      <p:sp>
        <p:nvSpPr>
          <p:cNvPr id="26" name="Text 24"/>
          <p:cNvSpPr/>
          <p:nvPr/>
        </p:nvSpPr>
        <p:spPr>
          <a:xfrm>
            <a:off x="5440680" y="2999232"/>
            <a:ext cx="3200400" cy="566928"/>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Browser STT, Edge-TTS neural voice, silence detection, auto-submit.</a:t>
            </a:r>
            <a:endParaRPr lang="en-US" sz="1100" dirty="0"/>
          </a:p>
        </p:txBody>
      </p:sp>
      <p:sp>
        <p:nvSpPr>
          <p:cNvPr id="27" name="Shape 25"/>
          <p:cNvSpPr/>
          <p:nvPr/>
        </p:nvSpPr>
        <p:spPr>
          <a:xfrm>
            <a:off x="457200" y="3703320"/>
            <a:ext cx="4023360" cy="1051560"/>
          </a:xfrm>
          <a:prstGeom prst="rect">
            <a:avLst/>
          </a:prstGeom>
          <a:solidFill>
            <a:srgbClr val="FFFFFF"/>
          </a:solidFill>
          <a:ln w="12700">
            <a:solidFill>
              <a:srgbClr val="CFD4E6"/>
            </a:solidFill>
            <a:prstDash val="solid"/>
          </a:ln>
          <a:effectLst>
            <a:outerShdw sx="100000" sy="100000" kx="0" ky="0" algn="bl" rotWithShape="0" blurRad="127000" dist="38100" dir="8100000">
              <a:srgbClr val="000000">
                <a:alpha val="8000"/>
              </a:srgbClr>
            </a:outerShdw>
          </a:effectLst>
        </p:spPr>
      </p:sp>
      <p:sp>
        <p:nvSpPr>
          <p:cNvPr id="28" name="Shape 26"/>
          <p:cNvSpPr/>
          <p:nvPr/>
        </p:nvSpPr>
        <p:spPr>
          <a:xfrm>
            <a:off x="457200" y="3703320"/>
            <a:ext cx="640080" cy="1051560"/>
          </a:xfrm>
          <a:prstGeom prst="rect">
            <a:avLst/>
          </a:prstGeom>
          <a:solidFill>
            <a:srgbClr val="1E2761"/>
          </a:solidFill>
          <a:ln w="12700">
            <a:solidFill>
              <a:srgbClr val="1E2761"/>
            </a:solidFill>
            <a:prstDash val="solid"/>
          </a:ln>
        </p:spPr>
      </p:sp>
      <p:sp>
        <p:nvSpPr>
          <p:cNvPr id="29" name="Text 27"/>
          <p:cNvSpPr/>
          <p:nvPr/>
        </p:nvSpPr>
        <p:spPr>
          <a:xfrm>
            <a:off x="457200" y="4023360"/>
            <a:ext cx="640080" cy="411480"/>
          </a:xfrm>
          <a:prstGeom prst="rect">
            <a:avLst/>
          </a:prstGeom>
          <a:noFill/>
          <a:ln/>
        </p:spPr>
        <p:txBody>
          <a:bodyPr wrap="square" lIns="0" tIns="0" rIns="0" bIns="0" rtlCol="0" anchor="ctr"/>
          <a:lstStyle/>
          <a:p>
            <a:pPr algn="ctr" indent="0" marL="0">
              <a:buNone/>
            </a:pPr>
            <a:r>
              <a:rPr lang="en-US" sz="1800" b="1" dirty="0">
                <a:solidFill>
                  <a:srgbClr val="B5651D"/>
                </a:solidFill>
                <a:latin typeface="Georgia" pitchFamily="34" charset="0"/>
                <a:ea typeface="Georgia" pitchFamily="34" charset="-122"/>
                <a:cs typeface="Georgia" pitchFamily="34" charset="-120"/>
              </a:rPr>
              <a:t>M5</a:t>
            </a:r>
            <a:endParaRPr lang="en-US" sz="1800" dirty="0"/>
          </a:p>
        </p:txBody>
      </p:sp>
      <p:sp>
        <p:nvSpPr>
          <p:cNvPr id="30" name="Text 28"/>
          <p:cNvSpPr/>
          <p:nvPr/>
        </p:nvSpPr>
        <p:spPr>
          <a:xfrm>
            <a:off x="1234440" y="3840480"/>
            <a:ext cx="3200400" cy="320040"/>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Camera Module</a:t>
            </a:r>
            <a:endParaRPr lang="en-US" sz="1200" dirty="0"/>
          </a:p>
        </p:txBody>
      </p:sp>
      <p:sp>
        <p:nvSpPr>
          <p:cNvPr id="31" name="Text 29"/>
          <p:cNvSpPr/>
          <p:nvPr/>
        </p:nvSpPr>
        <p:spPr>
          <a:xfrm>
            <a:off x="1234440" y="4142232"/>
            <a:ext cx="3200400" cy="566928"/>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MediaPipe face mesh and pose, live eye-contact and posture scoring.</a:t>
            </a:r>
            <a:endParaRPr lang="en-US" sz="1100" dirty="0"/>
          </a:p>
        </p:txBody>
      </p:sp>
      <p:sp>
        <p:nvSpPr>
          <p:cNvPr id="32" name="Shape 30"/>
          <p:cNvSpPr/>
          <p:nvPr/>
        </p:nvSpPr>
        <p:spPr>
          <a:xfrm>
            <a:off x="4663440" y="3703320"/>
            <a:ext cx="4023360" cy="1051560"/>
          </a:xfrm>
          <a:prstGeom prst="rect">
            <a:avLst/>
          </a:prstGeom>
          <a:solidFill>
            <a:srgbClr val="FFFFFF"/>
          </a:solidFill>
          <a:ln w="12700">
            <a:solidFill>
              <a:srgbClr val="CFD4E6"/>
            </a:solidFill>
            <a:prstDash val="solid"/>
          </a:ln>
          <a:effectLst>
            <a:outerShdw sx="100000" sy="100000" kx="0" ky="0" algn="bl" rotWithShape="0" blurRad="127000" dist="38100" dir="8100000">
              <a:srgbClr val="000000">
                <a:alpha val="8000"/>
              </a:srgbClr>
            </a:outerShdw>
          </a:effectLst>
        </p:spPr>
      </p:sp>
      <p:sp>
        <p:nvSpPr>
          <p:cNvPr id="33" name="Shape 31"/>
          <p:cNvSpPr/>
          <p:nvPr/>
        </p:nvSpPr>
        <p:spPr>
          <a:xfrm>
            <a:off x="4663440" y="3703320"/>
            <a:ext cx="640080" cy="1051560"/>
          </a:xfrm>
          <a:prstGeom prst="rect">
            <a:avLst/>
          </a:prstGeom>
          <a:solidFill>
            <a:srgbClr val="1E2761"/>
          </a:solidFill>
          <a:ln w="12700">
            <a:solidFill>
              <a:srgbClr val="1E2761"/>
            </a:solidFill>
            <a:prstDash val="solid"/>
          </a:ln>
        </p:spPr>
      </p:sp>
      <p:sp>
        <p:nvSpPr>
          <p:cNvPr id="34" name="Text 32"/>
          <p:cNvSpPr/>
          <p:nvPr/>
        </p:nvSpPr>
        <p:spPr>
          <a:xfrm>
            <a:off x="4663440" y="4023360"/>
            <a:ext cx="640080" cy="411480"/>
          </a:xfrm>
          <a:prstGeom prst="rect">
            <a:avLst/>
          </a:prstGeom>
          <a:noFill/>
          <a:ln/>
        </p:spPr>
        <p:txBody>
          <a:bodyPr wrap="square" lIns="0" tIns="0" rIns="0" bIns="0" rtlCol="0" anchor="ctr"/>
          <a:lstStyle/>
          <a:p>
            <a:pPr algn="ctr" indent="0" marL="0">
              <a:buNone/>
            </a:pPr>
            <a:r>
              <a:rPr lang="en-US" sz="1800" b="1" dirty="0">
                <a:solidFill>
                  <a:srgbClr val="B5651D"/>
                </a:solidFill>
                <a:latin typeface="Georgia" pitchFamily="34" charset="0"/>
                <a:ea typeface="Georgia" pitchFamily="34" charset="-122"/>
                <a:cs typeface="Georgia" pitchFamily="34" charset="-120"/>
              </a:rPr>
              <a:t>M6</a:t>
            </a:r>
            <a:endParaRPr lang="en-US" sz="1800" dirty="0"/>
          </a:p>
        </p:txBody>
      </p:sp>
      <p:sp>
        <p:nvSpPr>
          <p:cNvPr id="35" name="Text 33"/>
          <p:cNvSpPr/>
          <p:nvPr/>
        </p:nvSpPr>
        <p:spPr>
          <a:xfrm>
            <a:off x="5440680" y="3840480"/>
            <a:ext cx="3200400" cy="320040"/>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Evaluation Module</a:t>
            </a:r>
            <a:endParaRPr lang="en-US" sz="1200" dirty="0"/>
          </a:p>
        </p:txBody>
      </p:sp>
      <p:sp>
        <p:nvSpPr>
          <p:cNvPr id="36" name="Text 34"/>
          <p:cNvSpPr/>
          <p:nvPr/>
        </p:nvSpPr>
        <p:spPr>
          <a:xfrm>
            <a:off x="5440680" y="4142232"/>
            <a:ext cx="3200400" cy="566928"/>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RAG comparison with ideal answers, weighted rubric scoring, report generation.</a:t>
            </a:r>
            <a:endParaRPr lang="en-US" sz="1100" dirty="0"/>
          </a:p>
        </p:txBody>
      </p:sp>
      <p:sp>
        <p:nvSpPr>
          <p:cNvPr id="37" name="Shape 35"/>
          <p:cNvSpPr/>
          <p:nvPr/>
        </p:nvSpPr>
        <p:spPr>
          <a:xfrm>
            <a:off x="0" y="4937760"/>
            <a:ext cx="9144000" cy="27432"/>
          </a:xfrm>
          <a:prstGeom prst="rect">
            <a:avLst/>
          </a:prstGeom>
          <a:solidFill>
            <a:srgbClr val="CFD4E6"/>
          </a:solidFill>
          <a:ln w="12700">
            <a:solidFill>
              <a:srgbClr val="CFD4E6"/>
            </a:solidFill>
            <a:prstDash val="solid"/>
          </a:ln>
        </p:spPr>
      </p:sp>
      <p:sp>
        <p:nvSpPr>
          <p:cNvPr id="38" name="Text 36"/>
          <p:cNvSpPr/>
          <p:nvPr/>
        </p:nvSpPr>
        <p:spPr>
          <a:xfrm>
            <a:off x="457200" y="4965192"/>
            <a:ext cx="6400800" cy="182880"/>
          </a:xfrm>
          <a:prstGeom prst="rect">
            <a:avLst/>
          </a:prstGeom>
          <a:noFill/>
          <a:ln/>
        </p:spPr>
        <p:txBody>
          <a:bodyPr wrap="square" lIns="0" tIns="0" rIns="0" bIns="0" rtlCol="0" anchor="ctr"/>
          <a:lstStyle/>
          <a:p>
            <a:pPr indent="0" marL="0">
              <a:buNone/>
            </a:pPr>
            <a:r>
              <a:rPr lang="en-US" sz="900" dirty="0">
                <a:solidFill>
                  <a:srgbClr val="5C6B95"/>
                </a:solidFill>
                <a:latin typeface="Calibri" pitchFamily="34" charset="0"/>
                <a:ea typeface="Calibri" pitchFamily="34" charset="-122"/>
                <a:cs typeface="Calibri" pitchFamily="34" charset="-120"/>
              </a:rPr>
              <a:t>AI Interview Platform · Project Report</a:t>
            </a:r>
            <a:endParaRPr lang="en-US" sz="900" dirty="0"/>
          </a:p>
        </p:txBody>
      </p:sp>
      <p:sp>
        <p:nvSpPr>
          <p:cNvPr id="39" name="Text 37"/>
          <p:cNvSpPr/>
          <p:nvPr/>
        </p:nvSpPr>
        <p:spPr>
          <a:xfrm>
            <a:off x="8412480" y="4965192"/>
            <a:ext cx="365760" cy="182880"/>
          </a:xfrm>
          <a:prstGeom prst="rect">
            <a:avLst/>
          </a:prstGeom>
          <a:noFill/>
          <a:ln/>
        </p:spPr>
        <p:txBody>
          <a:bodyPr wrap="square" lIns="0" tIns="0" rIns="0" bIns="0" rtlCol="0" anchor="ctr"/>
          <a:lstStyle/>
          <a:p>
            <a:pPr algn="r" indent="0" marL="0">
              <a:buNone/>
            </a:pPr>
            <a:r>
              <a:rPr lang="en-US" sz="900" dirty="0">
                <a:solidFill>
                  <a:srgbClr val="5C6B9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457200" y="411480"/>
            <a:ext cx="411480" cy="320040"/>
          </a:xfrm>
          <a:prstGeom prst="rect">
            <a:avLst/>
          </a:prstGeom>
          <a:solidFill>
            <a:srgbClr val="1E2761"/>
          </a:solidFill>
          <a:ln w="12700">
            <a:solidFill>
              <a:srgbClr val="1E2761"/>
            </a:solidFill>
            <a:prstDash val="solid"/>
          </a:ln>
        </p:spPr>
      </p:sp>
      <p:sp>
        <p:nvSpPr>
          <p:cNvPr id="3" name="Text 1"/>
          <p:cNvSpPr/>
          <p:nvPr/>
        </p:nvSpPr>
        <p:spPr>
          <a:xfrm>
            <a:off x="457200" y="411480"/>
            <a:ext cx="4114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08</a:t>
            </a:r>
            <a:endParaRPr lang="en-US" sz="1400" dirty="0"/>
          </a:p>
        </p:txBody>
      </p:sp>
      <p:sp>
        <p:nvSpPr>
          <p:cNvPr id="4" name="Text 2"/>
          <p:cNvSpPr/>
          <p:nvPr/>
        </p:nvSpPr>
        <p:spPr>
          <a:xfrm>
            <a:off x="1005840" y="365760"/>
            <a:ext cx="822960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Testing &amp; Evaluation</a:t>
            </a:r>
            <a:endParaRPr lang="en-US" sz="2600" dirty="0"/>
          </a:p>
        </p:txBody>
      </p:sp>
      <p:sp>
        <p:nvSpPr>
          <p:cNvPr id="5" name="Shape 3"/>
          <p:cNvSpPr/>
          <p:nvPr/>
        </p:nvSpPr>
        <p:spPr>
          <a:xfrm>
            <a:off x="1005840" y="896112"/>
            <a:ext cx="548640" cy="36576"/>
          </a:xfrm>
          <a:prstGeom prst="rect">
            <a:avLst/>
          </a:prstGeom>
          <a:solidFill>
            <a:srgbClr val="B5651D"/>
          </a:solidFill>
          <a:ln w="12700">
            <a:solidFill>
              <a:srgbClr val="B5651D"/>
            </a:solidFill>
            <a:prstDash val="solid"/>
          </a:ln>
        </p:spPr>
      </p:sp>
      <p:sp>
        <p:nvSpPr>
          <p:cNvPr id="6" name="Text 4"/>
          <p:cNvSpPr/>
          <p:nvPr/>
        </p:nvSpPr>
        <p:spPr>
          <a:xfrm>
            <a:off x="1005840" y="960120"/>
            <a:ext cx="8229600" cy="274320"/>
          </a:xfrm>
          <a:prstGeom prst="rect">
            <a:avLst/>
          </a:prstGeom>
          <a:noFill/>
          <a:ln/>
        </p:spPr>
        <p:txBody>
          <a:bodyPr wrap="square" lIns="0" tIns="0" rIns="0" bIns="0" rtlCol="0" anchor="ctr"/>
          <a:lstStyle/>
          <a:p>
            <a:pPr indent="0" marL="0">
              <a:buNone/>
            </a:pPr>
            <a:r>
              <a:rPr lang="en-US" sz="1200" i="1" dirty="0">
                <a:solidFill>
                  <a:srgbClr val="5C6B95"/>
                </a:solidFill>
                <a:latin typeface="Calibri" pitchFamily="34" charset="0"/>
                <a:ea typeface="Calibri" pitchFamily="34" charset="-122"/>
                <a:cs typeface="Calibri" pitchFamily="34" charset="-120"/>
              </a:rPr>
              <a:t>How we checked that things work</a:t>
            </a:r>
            <a:endParaRPr lang="en-US" sz="1200" dirty="0"/>
          </a:p>
        </p:txBody>
      </p:sp>
      <p:sp>
        <p:nvSpPr>
          <p:cNvPr id="7" name="Shape 5"/>
          <p:cNvSpPr/>
          <p:nvPr/>
        </p:nvSpPr>
        <p:spPr>
          <a:xfrm>
            <a:off x="457200" y="1417320"/>
            <a:ext cx="2011680" cy="411480"/>
          </a:xfrm>
          <a:prstGeom prst="rect">
            <a:avLst/>
          </a:prstGeom>
          <a:solidFill>
            <a:srgbClr val="1E2761"/>
          </a:solidFill>
          <a:ln w="6350">
            <a:solidFill>
              <a:srgbClr val="CFD4E6"/>
            </a:solidFill>
            <a:prstDash val="solid"/>
          </a:ln>
        </p:spPr>
      </p:sp>
      <p:sp>
        <p:nvSpPr>
          <p:cNvPr id="8" name="Text 6"/>
          <p:cNvSpPr/>
          <p:nvPr/>
        </p:nvSpPr>
        <p:spPr>
          <a:xfrm>
            <a:off x="548640" y="1490472"/>
            <a:ext cx="1828800" cy="274320"/>
          </a:xfrm>
          <a:prstGeom prst="rect">
            <a:avLst/>
          </a:prstGeom>
          <a:noFill/>
          <a:ln/>
        </p:spPr>
        <p:txBody>
          <a:bodyPr wrap="square" lIns="0" tIns="0" rIns="0" bIns="0" rtlCol="0" anchor="ctr"/>
          <a:lstStyle/>
          <a:p>
            <a:pPr indent="0" marL="0">
              <a:buNone/>
            </a:pPr>
            <a:r>
              <a:rPr lang="en-US" sz="1100" b="1" dirty="0">
                <a:solidFill>
                  <a:srgbClr val="FFFFFF"/>
                </a:solidFill>
                <a:latin typeface="Georgia" pitchFamily="34" charset="0"/>
                <a:ea typeface="Georgia" pitchFamily="34" charset="-122"/>
                <a:cs typeface="Georgia" pitchFamily="34" charset="-120"/>
              </a:rPr>
              <a:t>Test Type</a:t>
            </a:r>
            <a:endParaRPr lang="en-US" sz="1100" dirty="0"/>
          </a:p>
        </p:txBody>
      </p:sp>
      <p:sp>
        <p:nvSpPr>
          <p:cNvPr id="9" name="Shape 7"/>
          <p:cNvSpPr/>
          <p:nvPr/>
        </p:nvSpPr>
        <p:spPr>
          <a:xfrm>
            <a:off x="2468880" y="1417320"/>
            <a:ext cx="2926080" cy="411480"/>
          </a:xfrm>
          <a:prstGeom prst="rect">
            <a:avLst/>
          </a:prstGeom>
          <a:solidFill>
            <a:srgbClr val="1E2761"/>
          </a:solidFill>
          <a:ln w="6350">
            <a:solidFill>
              <a:srgbClr val="CFD4E6"/>
            </a:solidFill>
            <a:prstDash val="solid"/>
          </a:ln>
        </p:spPr>
      </p:sp>
      <p:sp>
        <p:nvSpPr>
          <p:cNvPr id="10" name="Text 8"/>
          <p:cNvSpPr/>
          <p:nvPr/>
        </p:nvSpPr>
        <p:spPr>
          <a:xfrm>
            <a:off x="2560320" y="1490472"/>
            <a:ext cx="2743200" cy="274320"/>
          </a:xfrm>
          <a:prstGeom prst="rect">
            <a:avLst/>
          </a:prstGeom>
          <a:noFill/>
          <a:ln/>
        </p:spPr>
        <p:txBody>
          <a:bodyPr wrap="square" lIns="0" tIns="0" rIns="0" bIns="0" rtlCol="0" anchor="ctr"/>
          <a:lstStyle/>
          <a:p>
            <a:pPr indent="0" marL="0">
              <a:buNone/>
            </a:pPr>
            <a:r>
              <a:rPr lang="en-US" sz="1100" b="1" dirty="0">
                <a:solidFill>
                  <a:srgbClr val="FFFFFF"/>
                </a:solidFill>
                <a:latin typeface="Georgia" pitchFamily="34" charset="0"/>
                <a:ea typeface="Georgia" pitchFamily="34" charset="-122"/>
                <a:cs typeface="Georgia" pitchFamily="34" charset="-120"/>
              </a:rPr>
              <a:t>Scope</a:t>
            </a:r>
            <a:endParaRPr lang="en-US" sz="1100" dirty="0"/>
          </a:p>
        </p:txBody>
      </p:sp>
      <p:sp>
        <p:nvSpPr>
          <p:cNvPr id="11" name="Shape 9"/>
          <p:cNvSpPr/>
          <p:nvPr/>
        </p:nvSpPr>
        <p:spPr>
          <a:xfrm>
            <a:off x="5394960" y="1417320"/>
            <a:ext cx="1828800" cy="411480"/>
          </a:xfrm>
          <a:prstGeom prst="rect">
            <a:avLst/>
          </a:prstGeom>
          <a:solidFill>
            <a:srgbClr val="1E2761"/>
          </a:solidFill>
          <a:ln w="6350">
            <a:solidFill>
              <a:srgbClr val="CFD4E6"/>
            </a:solidFill>
            <a:prstDash val="solid"/>
          </a:ln>
        </p:spPr>
      </p:sp>
      <p:sp>
        <p:nvSpPr>
          <p:cNvPr id="12" name="Text 10"/>
          <p:cNvSpPr/>
          <p:nvPr/>
        </p:nvSpPr>
        <p:spPr>
          <a:xfrm>
            <a:off x="5486400" y="1490472"/>
            <a:ext cx="1645920" cy="274320"/>
          </a:xfrm>
          <a:prstGeom prst="rect">
            <a:avLst/>
          </a:prstGeom>
          <a:noFill/>
          <a:ln/>
        </p:spPr>
        <p:txBody>
          <a:bodyPr wrap="square" lIns="0" tIns="0" rIns="0" bIns="0" rtlCol="0" anchor="ctr"/>
          <a:lstStyle/>
          <a:p>
            <a:pPr indent="0" marL="0">
              <a:buNone/>
            </a:pPr>
            <a:r>
              <a:rPr lang="en-US" sz="1100" b="1" dirty="0">
                <a:solidFill>
                  <a:srgbClr val="FFFFFF"/>
                </a:solidFill>
                <a:latin typeface="Georgia" pitchFamily="34" charset="0"/>
                <a:ea typeface="Georgia" pitchFamily="34" charset="-122"/>
                <a:cs typeface="Georgia" pitchFamily="34" charset="-120"/>
              </a:rPr>
              <a:t>Tool</a:t>
            </a:r>
            <a:endParaRPr lang="en-US" sz="1100" dirty="0"/>
          </a:p>
        </p:txBody>
      </p:sp>
      <p:sp>
        <p:nvSpPr>
          <p:cNvPr id="13" name="Shape 11"/>
          <p:cNvSpPr/>
          <p:nvPr/>
        </p:nvSpPr>
        <p:spPr>
          <a:xfrm>
            <a:off x="7223760" y="1417320"/>
            <a:ext cx="1463040" cy="411480"/>
          </a:xfrm>
          <a:prstGeom prst="rect">
            <a:avLst/>
          </a:prstGeom>
          <a:solidFill>
            <a:srgbClr val="1E2761"/>
          </a:solidFill>
          <a:ln w="6350">
            <a:solidFill>
              <a:srgbClr val="CFD4E6"/>
            </a:solidFill>
            <a:prstDash val="solid"/>
          </a:ln>
        </p:spPr>
      </p:sp>
      <p:sp>
        <p:nvSpPr>
          <p:cNvPr id="14" name="Text 12"/>
          <p:cNvSpPr/>
          <p:nvPr/>
        </p:nvSpPr>
        <p:spPr>
          <a:xfrm>
            <a:off x="7315200" y="1490472"/>
            <a:ext cx="1280160" cy="274320"/>
          </a:xfrm>
          <a:prstGeom prst="rect">
            <a:avLst/>
          </a:prstGeom>
          <a:noFill/>
          <a:ln/>
        </p:spPr>
        <p:txBody>
          <a:bodyPr wrap="square" lIns="0" tIns="0" rIns="0" bIns="0" rtlCol="0" anchor="ctr"/>
          <a:lstStyle/>
          <a:p>
            <a:pPr indent="0" marL="0">
              <a:buNone/>
            </a:pPr>
            <a:r>
              <a:rPr lang="en-US" sz="1100" b="1" dirty="0">
                <a:solidFill>
                  <a:srgbClr val="FFFFFF"/>
                </a:solidFill>
                <a:latin typeface="Georgia" pitchFamily="34" charset="0"/>
                <a:ea typeface="Georgia" pitchFamily="34" charset="-122"/>
                <a:cs typeface="Georgia" pitchFamily="34" charset="-120"/>
              </a:rPr>
              <a:t>Result</a:t>
            </a:r>
            <a:endParaRPr lang="en-US" sz="1100" dirty="0"/>
          </a:p>
        </p:txBody>
      </p:sp>
      <p:sp>
        <p:nvSpPr>
          <p:cNvPr id="15" name="Shape 13"/>
          <p:cNvSpPr/>
          <p:nvPr/>
        </p:nvSpPr>
        <p:spPr>
          <a:xfrm>
            <a:off x="457200" y="1874520"/>
            <a:ext cx="2011680" cy="411480"/>
          </a:xfrm>
          <a:prstGeom prst="rect">
            <a:avLst/>
          </a:prstGeom>
          <a:solidFill>
            <a:srgbClr val="F5F5F7"/>
          </a:solidFill>
          <a:ln w="6350">
            <a:solidFill>
              <a:srgbClr val="CFD4E6"/>
            </a:solidFill>
            <a:prstDash val="solid"/>
          </a:ln>
        </p:spPr>
      </p:sp>
      <p:sp>
        <p:nvSpPr>
          <p:cNvPr id="16" name="Text 14"/>
          <p:cNvSpPr/>
          <p:nvPr/>
        </p:nvSpPr>
        <p:spPr>
          <a:xfrm>
            <a:off x="548640" y="1947672"/>
            <a:ext cx="182880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Unit Tests</a:t>
            </a:r>
            <a:endParaRPr lang="en-US" sz="1100" dirty="0"/>
          </a:p>
        </p:txBody>
      </p:sp>
      <p:sp>
        <p:nvSpPr>
          <p:cNvPr id="17" name="Shape 15"/>
          <p:cNvSpPr/>
          <p:nvPr/>
        </p:nvSpPr>
        <p:spPr>
          <a:xfrm>
            <a:off x="2468880" y="1874520"/>
            <a:ext cx="2926080" cy="411480"/>
          </a:xfrm>
          <a:prstGeom prst="rect">
            <a:avLst/>
          </a:prstGeom>
          <a:solidFill>
            <a:srgbClr val="F5F5F7"/>
          </a:solidFill>
          <a:ln w="6350">
            <a:solidFill>
              <a:srgbClr val="CFD4E6"/>
            </a:solidFill>
            <a:prstDash val="solid"/>
          </a:ln>
        </p:spPr>
      </p:sp>
      <p:sp>
        <p:nvSpPr>
          <p:cNvPr id="18" name="Text 16"/>
          <p:cNvSpPr/>
          <p:nvPr/>
        </p:nvSpPr>
        <p:spPr>
          <a:xfrm>
            <a:off x="2560320" y="1947672"/>
            <a:ext cx="274320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Services and utilities</a:t>
            </a:r>
            <a:endParaRPr lang="en-US" sz="1100" dirty="0"/>
          </a:p>
        </p:txBody>
      </p:sp>
      <p:sp>
        <p:nvSpPr>
          <p:cNvPr id="19" name="Shape 17"/>
          <p:cNvSpPr/>
          <p:nvPr/>
        </p:nvSpPr>
        <p:spPr>
          <a:xfrm>
            <a:off x="5394960" y="1874520"/>
            <a:ext cx="1828800" cy="411480"/>
          </a:xfrm>
          <a:prstGeom prst="rect">
            <a:avLst/>
          </a:prstGeom>
          <a:solidFill>
            <a:srgbClr val="F5F5F7"/>
          </a:solidFill>
          <a:ln w="6350">
            <a:solidFill>
              <a:srgbClr val="CFD4E6"/>
            </a:solidFill>
            <a:prstDash val="solid"/>
          </a:ln>
        </p:spPr>
      </p:sp>
      <p:sp>
        <p:nvSpPr>
          <p:cNvPr id="20" name="Text 18"/>
          <p:cNvSpPr/>
          <p:nvPr/>
        </p:nvSpPr>
        <p:spPr>
          <a:xfrm>
            <a:off x="5486400" y="1947672"/>
            <a:ext cx="164592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Jest / Vitest</a:t>
            </a:r>
            <a:endParaRPr lang="en-US" sz="1100" dirty="0"/>
          </a:p>
        </p:txBody>
      </p:sp>
      <p:sp>
        <p:nvSpPr>
          <p:cNvPr id="21" name="Shape 19"/>
          <p:cNvSpPr/>
          <p:nvPr/>
        </p:nvSpPr>
        <p:spPr>
          <a:xfrm>
            <a:off x="7223760" y="1874520"/>
            <a:ext cx="1463040" cy="411480"/>
          </a:xfrm>
          <a:prstGeom prst="rect">
            <a:avLst/>
          </a:prstGeom>
          <a:solidFill>
            <a:srgbClr val="F5F5F7"/>
          </a:solidFill>
          <a:ln w="6350">
            <a:solidFill>
              <a:srgbClr val="CFD4E6"/>
            </a:solidFill>
            <a:prstDash val="solid"/>
          </a:ln>
        </p:spPr>
      </p:sp>
      <p:sp>
        <p:nvSpPr>
          <p:cNvPr id="22" name="Text 20"/>
          <p:cNvSpPr/>
          <p:nvPr/>
        </p:nvSpPr>
        <p:spPr>
          <a:xfrm>
            <a:off x="7315200" y="1947672"/>
            <a:ext cx="128016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Partial</a:t>
            </a:r>
            <a:endParaRPr lang="en-US" sz="1100" dirty="0"/>
          </a:p>
        </p:txBody>
      </p:sp>
      <p:sp>
        <p:nvSpPr>
          <p:cNvPr id="23" name="Shape 21"/>
          <p:cNvSpPr/>
          <p:nvPr/>
        </p:nvSpPr>
        <p:spPr>
          <a:xfrm>
            <a:off x="457200" y="2331720"/>
            <a:ext cx="2011680" cy="411480"/>
          </a:xfrm>
          <a:prstGeom prst="rect">
            <a:avLst/>
          </a:prstGeom>
          <a:solidFill>
            <a:srgbClr val="FFFFFF"/>
          </a:solidFill>
          <a:ln w="6350">
            <a:solidFill>
              <a:srgbClr val="CFD4E6"/>
            </a:solidFill>
            <a:prstDash val="solid"/>
          </a:ln>
        </p:spPr>
      </p:sp>
      <p:sp>
        <p:nvSpPr>
          <p:cNvPr id="24" name="Text 22"/>
          <p:cNvSpPr/>
          <p:nvPr/>
        </p:nvSpPr>
        <p:spPr>
          <a:xfrm>
            <a:off x="548640" y="2404872"/>
            <a:ext cx="182880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API Tests</a:t>
            </a:r>
            <a:endParaRPr lang="en-US" sz="1100" dirty="0"/>
          </a:p>
        </p:txBody>
      </p:sp>
      <p:sp>
        <p:nvSpPr>
          <p:cNvPr id="25" name="Shape 23"/>
          <p:cNvSpPr/>
          <p:nvPr/>
        </p:nvSpPr>
        <p:spPr>
          <a:xfrm>
            <a:off x="2468880" y="2331720"/>
            <a:ext cx="2926080" cy="411480"/>
          </a:xfrm>
          <a:prstGeom prst="rect">
            <a:avLst/>
          </a:prstGeom>
          <a:solidFill>
            <a:srgbClr val="FFFFFF"/>
          </a:solidFill>
          <a:ln w="6350">
            <a:solidFill>
              <a:srgbClr val="CFD4E6"/>
            </a:solidFill>
            <a:prstDash val="solid"/>
          </a:ln>
        </p:spPr>
      </p:sp>
      <p:sp>
        <p:nvSpPr>
          <p:cNvPr id="26" name="Text 24"/>
          <p:cNvSpPr/>
          <p:nvPr/>
        </p:nvSpPr>
        <p:spPr>
          <a:xfrm>
            <a:off x="2560320" y="2404872"/>
            <a:ext cx="274320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REST endpoints, auth flow</a:t>
            </a:r>
            <a:endParaRPr lang="en-US" sz="1100" dirty="0"/>
          </a:p>
        </p:txBody>
      </p:sp>
      <p:sp>
        <p:nvSpPr>
          <p:cNvPr id="27" name="Shape 25"/>
          <p:cNvSpPr/>
          <p:nvPr/>
        </p:nvSpPr>
        <p:spPr>
          <a:xfrm>
            <a:off x="5394960" y="2331720"/>
            <a:ext cx="1828800" cy="411480"/>
          </a:xfrm>
          <a:prstGeom prst="rect">
            <a:avLst/>
          </a:prstGeom>
          <a:solidFill>
            <a:srgbClr val="FFFFFF"/>
          </a:solidFill>
          <a:ln w="6350">
            <a:solidFill>
              <a:srgbClr val="CFD4E6"/>
            </a:solidFill>
            <a:prstDash val="solid"/>
          </a:ln>
        </p:spPr>
      </p:sp>
      <p:sp>
        <p:nvSpPr>
          <p:cNvPr id="28" name="Text 26"/>
          <p:cNvSpPr/>
          <p:nvPr/>
        </p:nvSpPr>
        <p:spPr>
          <a:xfrm>
            <a:off x="5486400" y="2404872"/>
            <a:ext cx="164592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Manual + Postman</a:t>
            </a:r>
            <a:endParaRPr lang="en-US" sz="1100" dirty="0"/>
          </a:p>
        </p:txBody>
      </p:sp>
      <p:sp>
        <p:nvSpPr>
          <p:cNvPr id="29" name="Shape 27"/>
          <p:cNvSpPr/>
          <p:nvPr/>
        </p:nvSpPr>
        <p:spPr>
          <a:xfrm>
            <a:off x="7223760" y="2331720"/>
            <a:ext cx="1463040" cy="411480"/>
          </a:xfrm>
          <a:prstGeom prst="rect">
            <a:avLst/>
          </a:prstGeom>
          <a:solidFill>
            <a:srgbClr val="FFFFFF"/>
          </a:solidFill>
          <a:ln w="6350">
            <a:solidFill>
              <a:srgbClr val="CFD4E6"/>
            </a:solidFill>
            <a:prstDash val="solid"/>
          </a:ln>
        </p:spPr>
      </p:sp>
      <p:sp>
        <p:nvSpPr>
          <p:cNvPr id="30" name="Text 28"/>
          <p:cNvSpPr/>
          <p:nvPr/>
        </p:nvSpPr>
        <p:spPr>
          <a:xfrm>
            <a:off x="7315200" y="2404872"/>
            <a:ext cx="128016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Pass</a:t>
            </a:r>
            <a:endParaRPr lang="en-US" sz="1100" dirty="0"/>
          </a:p>
        </p:txBody>
      </p:sp>
      <p:sp>
        <p:nvSpPr>
          <p:cNvPr id="31" name="Shape 29"/>
          <p:cNvSpPr/>
          <p:nvPr/>
        </p:nvSpPr>
        <p:spPr>
          <a:xfrm>
            <a:off x="457200" y="2788920"/>
            <a:ext cx="2011680" cy="411480"/>
          </a:xfrm>
          <a:prstGeom prst="rect">
            <a:avLst/>
          </a:prstGeom>
          <a:solidFill>
            <a:srgbClr val="F5F5F7"/>
          </a:solidFill>
          <a:ln w="6350">
            <a:solidFill>
              <a:srgbClr val="CFD4E6"/>
            </a:solidFill>
            <a:prstDash val="solid"/>
          </a:ln>
        </p:spPr>
      </p:sp>
      <p:sp>
        <p:nvSpPr>
          <p:cNvPr id="32" name="Text 30"/>
          <p:cNvSpPr/>
          <p:nvPr/>
        </p:nvSpPr>
        <p:spPr>
          <a:xfrm>
            <a:off x="548640" y="2862072"/>
            <a:ext cx="182880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UI Smoke Tests</a:t>
            </a:r>
            <a:endParaRPr lang="en-US" sz="1100" dirty="0"/>
          </a:p>
        </p:txBody>
      </p:sp>
      <p:sp>
        <p:nvSpPr>
          <p:cNvPr id="33" name="Shape 31"/>
          <p:cNvSpPr/>
          <p:nvPr/>
        </p:nvSpPr>
        <p:spPr>
          <a:xfrm>
            <a:off x="2468880" y="2788920"/>
            <a:ext cx="2926080" cy="411480"/>
          </a:xfrm>
          <a:prstGeom prst="rect">
            <a:avLst/>
          </a:prstGeom>
          <a:solidFill>
            <a:srgbClr val="F5F5F7"/>
          </a:solidFill>
          <a:ln w="6350">
            <a:solidFill>
              <a:srgbClr val="CFD4E6"/>
            </a:solidFill>
            <a:prstDash val="solid"/>
          </a:ln>
        </p:spPr>
      </p:sp>
      <p:sp>
        <p:nvSpPr>
          <p:cNvPr id="34" name="Text 32"/>
          <p:cNvSpPr/>
          <p:nvPr/>
        </p:nvSpPr>
        <p:spPr>
          <a:xfrm>
            <a:off x="2560320" y="2862072"/>
            <a:ext cx="274320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Critical user paths</a:t>
            </a:r>
            <a:endParaRPr lang="en-US" sz="1100" dirty="0"/>
          </a:p>
        </p:txBody>
      </p:sp>
      <p:sp>
        <p:nvSpPr>
          <p:cNvPr id="35" name="Shape 33"/>
          <p:cNvSpPr/>
          <p:nvPr/>
        </p:nvSpPr>
        <p:spPr>
          <a:xfrm>
            <a:off x="5394960" y="2788920"/>
            <a:ext cx="1828800" cy="411480"/>
          </a:xfrm>
          <a:prstGeom prst="rect">
            <a:avLst/>
          </a:prstGeom>
          <a:solidFill>
            <a:srgbClr val="F5F5F7"/>
          </a:solidFill>
          <a:ln w="6350">
            <a:solidFill>
              <a:srgbClr val="CFD4E6"/>
            </a:solidFill>
            <a:prstDash val="solid"/>
          </a:ln>
        </p:spPr>
      </p:sp>
      <p:sp>
        <p:nvSpPr>
          <p:cNvPr id="36" name="Text 34"/>
          <p:cNvSpPr/>
          <p:nvPr/>
        </p:nvSpPr>
        <p:spPr>
          <a:xfrm>
            <a:off x="5486400" y="2862072"/>
            <a:ext cx="164592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Manual walkthrough</a:t>
            </a:r>
            <a:endParaRPr lang="en-US" sz="1100" dirty="0"/>
          </a:p>
        </p:txBody>
      </p:sp>
      <p:sp>
        <p:nvSpPr>
          <p:cNvPr id="37" name="Shape 35"/>
          <p:cNvSpPr/>
          <p:nvPr/>
        </p:nvSpPr>
        <p:spPr>
          <a:xfrm>
            <a:off x="7223760" y="2788920"/>
            <a:ext cx="1463040" cy="411480"/>
          </a:xfrm>
          <a:prstGeom prst="rect">
            <a:avLst/>
          </a:prstGeom>
          <a:solidFill>
            <a:srgbClr val="F5F5F7"/>
          </a:solidFill>
          <a:ln w="6350">
            <a:solidFill>
              <a:srgbClr val="CFD4E6"/>
            </a:solidFill>
            <a:prstDash val="solid"/>
          </a:ln>
        </p:spPr>
      </p:sp>
      <p:sp>
        <p:nvSpPr>
          <p:cNvPr id="38" name="Text 36"/>
          <p:cNvSpPr/>
          <p:nvPr/>
        </p:nvSpPr>
        <p:spPr>
          <a:xfrm>
            <a:off x="7315200" y="2862072"/>
            <a:ext cx="128016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Pass</a:t>
            </a:r>
            <a:endParaRPr lang="en-US" sz="1100" dirty="0"/>
          </a:p>
        </p:txBody>
      </p:sp>
      <p:sp>
        <p:nvSpPr>
          <p:cNvPr id="39" name="Shape 37"/>
          <p:cNvSpPr/>
          <p:nvPr/>
        </p:nvSpPr>
        <p:spPr>
          <a:xfrm>
            <a:off x="457200" y="3246120"/>
            <a:ext cx="2011680" cy="411480"/>
          </a:xfrm>
          <a:prstGeom prst="rect">
            <a:avLst/>
          </a:prstGeom>
          <a:solidFill>
            <a:srgbClr val="FFFFFF"/>
          </a:solidFill>
          <a:ln w="6350">
            <a:solidFill>
              <a:srgbClr val="CFD4E6"/>
            </a:solidFill>
            <a:prstDash val="solid"/>
          </a:ln>
        </p:spPr>
      </p:sp>
      <p:sp>
        <p:nvSpPr>
          <p:cNvPr id="40" name="Text 38"/>
          <p:cNvSpPr/>
          <p:nvPr/>
        </p:nvSpPr>
        <p:spPr>
          <a:xfrm>
            <a:off x="548640" y="3319272"/>
            <a:ext cx="182880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TTS / STT Latency</a:t>
            </a:r>
            <a:endParaRPr lang="en-US" sz="1100" dirty="0"/>
          </a:p>
        </p:txBody>
      </p:sp>
      <p:sp>
        <p:nvSpPr>
          <p:cNvPr id="41" name="Shape 39"/>
          <p:cNvSpPr/>
          <p:nvPr/>
        </p:nvSpPr>
        <p:spPr>
          <a:xfrm>
            <a:off x="2468880" y="3246120"/>
            <a:ext cx="2926080" cy="411480"/>
          </a:xfrm>
          <a:prstGeom prst="rect">
            <a:avLst/>
          </a:prstGeom>
          <a:solidFill>
            <a:srgbClr val="FFFFFF"/>
          </a:solidFill>
          <a:ln w="6350">
            <a:solidFill>
              <a:srgbClr val="CFD4E6"/>
            </a:solidFill>
            <a:prstDash val="solid"/>
          </a:ln>
        </p:spPr>
      </p:sp>
      <p:sp>
        <p:nvSpPr>
          <p:cNvPr id="42" name="Text 40"/>
          <p:cNvSpPr/>
          <p:nvPr/>
        </p:nvSpPr>
        <p:spPr>
          <a:xfrm>
            <a:off x="2560320" y="3319272"/>
            <a:ext cx="274320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Response time measurement</a:t>
            </a:r>
            <a:endParaRPr lang="en-US" sz="1100" dirty="0"/>
          </a:p>
        </p:txBody>
      </p:sp>
      <p:sp>
        <p:nvSpPr>
          <p:cNvPr id="43" name="Shape 41"/>
          <p:cNvSpPr/>
          <p:nvPr/>
        </p:nvSpPr>
        <p:spPr>
          <a:xfrm>
            <a:off x="5394960" y="3246120"/>
            <a:ext cx="1828800" cy="411480"/>
          </a:xfrm>
          <a:prstGeom prst="rect">
            <a:avLst/>
          </a:prstGeom>
          <a:solidFill>
            <a:srgbClr val="FFFFFF"/>
          </a:solidFill>
          <a:ln w="6350">
            <a:solidFill>
              <a:srgbClr val="CFD4E6"/>
            </a:solidFill>
            <a:prstDash val="solid"/>
          </a:ln>
        </p:spPr>
      </p:sp>
      <p:sp>
        <p:nvSpPr>
          <p:cNvPr id="44" name="Text 42"/>
          <p:cNvSpPr/>
          <p:nvPr/>
        </p:nvSpPr>
        <p:spPr>
          <a:xfrm>
            <a:off x="5486400" y="3319272"/>
            <a:ext cx="164592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Browser dev tools</a:t>
            </a:r>
            <a:endParaRPr lang="en-US" sz="1100" dirty="0"/>
          </a:p>
        </p:txBody>
      </p:sp>
      <p:sp>
        <p:nvSpPr>
          <p:cNvPr id="45" name="Shape 43"/>
          <p:cNvSpPr/>
          <p:nvPr/>
        </p:nvSpPr>
        <p:spPr>
          <a:xfrm>
            <a:off x="7223760" y="3246120"/>
            <a:ext cx="1463040" cy="411480"/>
          </a:xfrm>
          <a:prstGeom prst="rect">
            <a:avLst/>
          </a:prstGeom>
          <a:solidFill>
            <a:srgbClr val="FFFFFF"/>
          </a:solidFill>
          <a:ln w="6350">
            <a:solidFill>
              <a:srgbClr val="CFD4E6"/>
            </a:solidFill>
            <a:prstDash val="solid"/>
          </a:ln>
        </p:spPr>
      </p:sp>
      <p:sp>
        <p:nvSpPr>
          <p:cNvPr id="46" name="Text 44"/>
          <p:cNvSpPr/>
          <p:nvPr/>
        </p:nvSpPr>
        <p:spPr>
          <a:xfrm>
            <a:off x="7315200" y="3319272"/>
            <a:ext cx="128016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Under 3s</a:t>
            </a:r>
            <a:endParaRPr lang="en-US" sz="1100" dirty="0"/>
          </a:p>
        </p:txBody>
      </p:sp>
      <p:sp>
        <p:nvSpPr>
          <p:cNvPr id="47" name="Shape 45"/>
          <p:cNvSpPr/>
          <p:nvPr/>
        </p:nvSpPr>
        <p:spPr>
          <a:xfrm>
            <a:off x="457200" y="3703320"/>
            <a:ext cx="2011680" cy="411480"/>
          </a:xfrm>
          <a:prstGeom prst="rect">
            <a:avLst/>
          </a:prstGeom>
          <a:solidFill>
            <a:srgbClr val="F5F5F7"/>
          </a:solidFill>
          <a:ln w="6350">
            <a:solidFill>
              <a:srgbClr val="CFD4E6"/>
            </a:solidFill>
            <a:prstDash val="solid"/>
          </a:ln>
        </p:spPr>
      </p:sp>
      <p:sp>
        <p:nvSpPr>
          <p:cNvPr id="48" name="Text 46"/>
          <p:cNvSpPr/>
          <p:nvPr/>
        </p:nvSpPr>
        <p:spPr>
          <a:xfrm>
            <a:off x="548640" y="3776472"/>
            <a:ext cx="182880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Scoring Accuracy</a:t>
            </a:r>
            <a:endParaRPr lang="en-US" sz="1100" dirty="0"/>
          </a:p>
        </p:txBody>
      </p:sp>
      <p:sp>
        <p:nvSpPr>
          <p:cNvPr id="49" name="Shape 47"/>
          <p:cNvSpPr/>
          <p:nvPr/>
        </p:nvSpPr>
        <p:spPr>
          <a:xfrm>
            <a:off x="2468880" y="3703320"/>
            <a:ext cx="2926080" cy="411480"/>
          </a:xfrm>
          <a:prstGeom prst="rect">
            <a:avLst/>
          </a:prstGeom>
          <a:solidFill>
            <a:srgbClr val="F5F5F7"/>
          </a:solidFill>
          <a:ln w="6350">
            <a:solidFill>
              <a:srgbClr val="CFD4E6"/>
            </a:solidFill>
            <a:prstDash val="solid"/>
          </a:ln>
        </p:spPr>
      </p:sp>
      <p:sp>
        <p:nvSpPr>
          <p:cNvPr id="50" name="Text 48"/>
          <p:cNvSpPr/>
          <p:nvPr/>
        </p:nvSpPr>
        <p:spPr>
          <a:xfrm>
            <a:off x="2560320" y="3776472"/>
            <a:ext cx="274320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Compared with human-rated answers</a:t>
            </a:r>
            <a:endParaRPr lang="en-US" sz="1100" dirty="0"/>
          </a:p>
        </p:txBody>
      </p:sp>
      <p:sp>
        <p:nvSpPr>
          <p:cNvPr id="51" name="Shape 49"/>
          <p:cNvSpPr/>
          <p:nvPr/>
        </p:nvSpPr>
        <p:spPr>
          <a:xfrm>
            <a:off x="5394960" y="3703320"/>
            <a:ext cx="1828800" cy="411480"/>
          </a:xfrm>
          <a:prstGeom prst="rect">
            <a:avLst/>
          </a:prstGeom>
          <a:solidFill>
            <a:srgbClr val="F5F5F7"/>
          </a:solidFill>
          <a:ln w="6350">
            <a:solidFill>
              <a:srgbClr val="CFD4E6"/>
            </a:solidFill>
            <a:prstDash val="solid"/>
          </a:ln>
        </p:spPr>
      </p:sp>
      <p:sp>
        <p:nvSpPr>
          <p:cNvPr id="52" name="Text 50"/>
          <p:cNvSpPr/>
          <p:nvPr/>
        </p:nvSpPr>
        <p:spPr>
          <a:xfrm>
            <a:off x="5486400" y="3776472"/>
            <a:ext cx="164592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Manual benchmark</a:t>
            </a:r>
            <a:endParaRPr lang="en-US" sz="1100" dirty="0"/>
          </a:p>
        </p:txBody>
      </p:sp>
      <p:sp>
        <p:nvSpPr>
          <p:cNvPr id="53" name="Shape 51"/>
          <p:cNvSpPr/>
          <p:nvPr/>
        </p:nvSpPr>
        <p:spPr>
          <a:xfrm>
            <a:off x="7223760" y="3703320"/>
            <a:ext cx="1463040" cy="411480"/>
          </a:xfrm>
          <a:prstGeom prst="rect">
            <a:avLst/>
          </a:prstGeom>
          <a:solidFill>
            <a:srgbClr val="F5F5F7"/>
          </a:solidFill>
          <a:ln w="6350">
            <a:solidFill>
              <a:srgbClr val="CFD4E6"/>
            </a:solidFill>
            <a:prstDash val="solid"/>
          </a:ln>
        </p:spPr>
      </p:sp>
      <p:sp>
        <p:nvSpPr>
          <p:cNvPr id="54" name="Text 52"/>
          <p:cNvSpPr/>
          <p:nvPr/>
        </p:nvSpPr>
        <p:spPr>
          <a:xfrm>
            <a:off x="7315200" y="3776472"/>
            <a:ext cx="128016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Reasonable</a:t>
            </a:r>
            <a:endParaRPr lang="en-US" sz="1100" dirty="0"/>
          </a:p>
        </p:txBody>
      </p:sp>
      <p:sp>
        <p:nvSpPr>
          <p:cNvPr id="55" name="Shape 53"/>
          <p:cNvSpPr/>
          <p:nvPr/>
        </p:nvSpPr>
        <p:spPr>
          <a:xfrm>
            <a:off x="457200" y="4160520"/>
            <a:ext cx="2011680" cy="411480"/>
          </a:xfrm>
          <a:prstGeom prst="rect">
            <a:avLst/>
          </a:prstGeom>
          <a:solidFill>
            <a:srgbClr val="FFFFFF"/>
          </a:solidFill>
          <a:ln w="6350">
            <a:solidFill>
              <a:srgbClr val="CFD4E6"/>
            </a:solidFill>
            <a:prstDash val="solid"/>
          </a:ln>
        </p:spPr>
      </p:sp>
      <p:sp>
        <p:nvSpPr>
          <p:cNvPr id="56" name="Text 54"/>
          <p:cNvSpPr/>
          <p:nvPr/>
        </p:nvSpPr>
        <p:spPr>
          <a:xfrm>
            <a:off x="548640" y="4233672"/>
            <a:ext cx="182880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Security Review</a:t>
            </a:r>
            <a:endParaRPr lang="en-US" sz="1100" dirty="0"/>
          </a:p>
        </p:txBody>
      </p:sp>
      <p:sp>
        <p:nvSpPr>
          <p:cNvPr id="57" name="Shape 55"/>
          <p:cNvSpPr/>
          <p:nvPr/>
        </p:nvSpPr>
        <p:spPr>
          <a:xfrm>
            <a:off x="2468880" y="4160520"/>
            <a:ext cx="2926080" cy="411480"/>
          </a:xfrm>
          <a:prstGeom prst="rect">
            <a:avLst/>
          </a:prstGeom>
          <a:solidFill>
            <a:srgbClr val="FFFFFF"/>
          </a:solidFill>
          <a:ln w="6350">
            <a:solidFill>
              <a:srgbClr val="CFD4E6"/>
            </a:solidFill>
            <a:prstDash val="solid"/>
          </a:ln>
        </p:spPr>
      </p:sp>
      <p:sp>
        <p:nvSpPr>
          <p:cNvPr id="58" name="Text 56"/>
          <p:cNvSpPr/>
          <p:nvPr/>
        </p:nvSpPr>
        <p:spPr>
          <a:xfrm>
            <a:off x="2560320" y="4233672"/>
            <a:ext cx="274320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Auth, hashing, rate limiting</a:t>
            </a:r>
            <a:endParaRPr lang="en-US" sz="1100" dirty="0"/>
          </a:p>
        </p:txBody>
      </p:sp>
      <p:sp>
        <p:nvSpPr>
          <p:cNvPr id="59" name="Shape 57"/>
          <p:cNvSpPr/>
          <p:nvPr/>
        </p:nvSpPr>
        <p:spPr>
          <a:xfrm>
            <a:off x="5394960" y="4160520"/>
            <a:ext cx="1828800" cy="411480"/>
          </a:xfrm>
          <a:prstGeom prst="rect">
            <a:avLst/>
          </a:prstGeom>
          <a:solidFill>
            <a:srgbClr val="FFFFFF"/>
          </a:solidFill>
          <a:ln w="6350">
            <a:solidFill>
              <a:srgbClr val="CFD4E6"/>
            </a:solidFill>
            <a:prstDash val="solid"/>
          </a:ln>
        </p:spPr>
      </p:sp>
      <p:sp>
        <p:nvSpPr>
          <p:cNvPr id="60" name="Text 58"/>
          <p:cNvSpPr/>
          <p:nvPr/>
        </p:nvSpPr>
        <p:spPr>
          <a:xfrm>
            <a:off x="5486400" y="4233672"/>
            <a:ext cx="164592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Manual audit</a:t>
            </a:r>
            <a:endParaRPr lang="en-US" sz="1100" dirty="0"/>
          </a:p>
        </p:txBody>
      </p:sp>
      <p:sp>
        <p:nvSpPr>
          <p:cNvPr id="61" name="Shape 59"/>
          <p:cNvSpPr/>
          <p:nvPr/>
        </p:nvSpPr>
        <p:spPr>
          <a:xfrm>
            <a:off x="7223760" y="4160520"/>
            <a:ext cx="1463040" cy="411480"/>
          </a:xfrm>
          <a:prstGeom prst="rect">
            <a:avLst/>
          </a:prstGeom>
          <a:solidFill>
            <a:srgbClr val="FFFFFF"/>
          </a:solidFill>
          <a:ln w="6350">
            <a:solidFill>
              <a:srgbClr val="CFD4E6"/>
            </a:solidFill>
            <a:prstDash val="solid"/>
          </a:ln>
        </p:spPr>
      </p:sp>
      <p:sp>
        <p:nvSpPr>
          <p:cNvPr id="62" name="Text 60"/>
          <p:cNvSpPr/>
          <p:nvPr/>
        </p:nvSpPr>
        <p:spPr>
          <a:xfrm>
            <a:off x="7315200" y="4233672"/>
            <a:ext cx="128016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Pass</a:t>
            </a:r>
            <a:endParaRPr lang="en-US" sz="1100" dirty="0"/>
          </a:p>
        </p:txBody>
      </p:sp>
      <p:sp>
        <p:nvSpPr>
          <p:cNvPr id="63" name="Text 61"/>
          <p:cNvSpPr/>
          <p:nvPr/>
        </p:nvSpPr>
        <p:spPr>
          <a:xfrm>
            <a:off x="457200" y="4572000"/>
            <a:ext cx="8229600" cy="274320"/>
          </a:xfrm>
          <a:prstGeom prst="rect">
            <a:avLst/>
          </a:prstGeom>
          <a:noFill/>
          <a:ln/>
        </p:spPr>
        <p:txBody>
          <a:bodyPr wrap="square" lIns="0" tIns="0" rIns="0" bIns="0" rtlCol="0" anchor="ctr"/>
          <a:lstStyle/>
          <a:p>
            <a:pPr algn="ctr" indent="0" marL="0">
              <a:buNone/>
            </a:pPr>
            <a:r>
              <a:rPr lang="en-US" sz="1000" i="1" dirty="0">
                <a:solidFill>
                  <a:srgbClr val="5C6B95"/>
                </a:solidFill>
                <a:latin typeface="Calibri" pitchFamily="34" charset="0"/>
                <a:ea typeface="Calibri" pitchFamily="34" charset="-122"/>
                <a:cs typeface="Calibri" pitchFamily="34" charset="-120"/>
              </a:rPr>
              <a:t>Note: Automated end-to-end test suite is planned but not yet implemented.</a:t>
            </a:r>
            <a:endParaRPr lang="en-US" sz="1000" dirty="0"/>
          </a:p>
        </p:txBody>
      </p:sp>
      <p:sp>
        <p:nvSpPr>
          <p:cNvPr id="64" name="Shape 62"/>
          <p:cNvSpPr/>
          <p:nvPr/>
        </p:nvSpPr>
        <p:spPr>
          <a:xfrm>
            <a:off x="0" y="4937760"/>
            <a:ext cx="9144000" cy="27432"/>
          </a:xfrm>
          <a:prstGeom prst="rect">
            <a:avLst/>
          </a:prstGeom>
          <a:solidFill>
            <a:srgbClr val="CFD4E6"/>
          </a:solidFill>
          <a:ln w="12700">
            <a:solidFill>
              <a:srgbClr val="CFD4E6"/>
            </a:solidFill>
            <a:prstDash val="solid"/>
          </a:ln>
        </p:spPr>
      </p:sp>
      <p:sp>
        <p:nvSpPr>
          <p:cNvPr id="65" name="Text 63"/>
          <p:cNvSpPr/>
          <p:nvPr/>
        </p:nvSpPr>
        <p:spPr>
          <a:xfrm>
            <a:off x="457200" y="4965192"/>
            <a:ext cx="6400800" cy="182880"/>
          </a:xfrm>
          <a:prstGeom prst="rect">
            <a:avLst/>
          </a:prstGeom>
          <a:noFill/>
          <a:ln/>
        </p:spPr>
        <p:txBody>
          <a:bodyPr wrap="square" lIns="0" tIns="0" rIns="0" bIns="0" rtlCol="0" anchor="ctr"/>
          <a:lstStyle/>
          <a:p>
            <a:pPr indent="0" marL="0">
              <a:buNone/>
            </a:pPr>
            <a:r>
              <a:rPr lang="en-US" sz="900" dirty="0">
                <a:solidFill>
                  <a:srgbClr val="5C6B95"/>
                </a:solidFill>
                <a:latin typeface="Calibri" pitchFamily="34" charset="0"/>
                <a:ea typeface="Calibri" pitchFamily="34" charset="-122"/>
                <a:cs typeface="Calibri" pitchFamily="34" charset="-120"/>
              </a:rPr>
              <a:t>AI Interview Platform · Project Report</a:t>
            </a:r>
            <a:endParaRPr lang="en-US" sz="900" dirty="0"/>
          </a:p>
        </p:txBody>
      </p:sp>
      <p:sp>
        <p:nvSpPr>
          <p:cNvPr id="66" name="Text 64"/>
          <p:cNvSpPr/>
          <p:nvPr/>
        </p:nvSpPr>
        <p:spPr>
          <a:xfrm>
            <a:off x="8412480" y="4965192"/>
            <a:ext cx="365760" cy="182880"/>
          </a:xfrm>
          <a:prstGeom prst="rect">
            <a:avLst/>
          </a:prstGeom>
          <a:noFill/>
          <a:ln/>
        </p:spPr>
        <p:txBody>
          <a:bodyPr wrap="square" lIns="0" tIns="0" rIns="0" bIns="0" rtlCol="0" anchor="ctr"/>
          <a:lstStyle/>
          <a:p>
            <a:pPr algn="r" indent="0" marL="0">
              <a:buNone/>
            </a:pPr>
            <a:r>
              <a:rPr lang="en-US" sz="900" dirty="0">
                <a:solidFill>
                  <a:srgbClr val="5C6B9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457200" y="411480"/>
            <a:ext cx="411480" cy="320040"/>
          </a:xfrm>
          <a:prstGeom prst="rect">
            <a:avLst/>
          </a:prstGeom>
          <a:solidFill>
            <a:srgbClr val="1E2761"/>
          </a:solidFill>
          <a:ln w="12700">
            <a:solidFill>
              <a:srgbClr val="1E2761"/>
            </a:solidFill>
            <a:prstDash val="solid"/>
          </a:ln>
        </p:spPr>
      </p:sp>
      <p:sp>
        <p:nvSpPr>
          <p:cNvPr id="3" name="Text 1"/>
          <p:cNvSpPr/>
          <p:nvPr/>
        </p:nvSpPr>
        <p:spPr>
          <a:xfrm>
            <a:off x="457200" y="411480"/>
            <a:ext cx="4114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09</a:t>
            </a:r>
            <a:endParaRPr lang="en-US" sz="1400" dirty="0"/>
          </a:p>
        </p:txBody>
      </p:sp>
      <p:sp>
        <p:nvSpPr>
          <p:cNvPr id="4" name="Text 2"/>
          <p:cNvSpPr/>
          <p:nvPr/>
        </p:nvSpPr>
        <p:spPr>
          <a:xfrm>
            <a:off x="1005840" y="365760"/>
            <a:ext cx="822960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Results &amp; Progress</a:t>
            </a:r>
            <a:endParaRPr lang="en-US" sz="2600" dirty="0"/>
          </a:p>
        </p:txBody>
      </p:sp>
      <p:sp>
        <p:nvSpPr>
          <p:cNvPr id="5" name="Shape 3"/>
          <p:cNvSpPr/>
          <p:nvPr/>
        </p:nvSpPr>
        <p:spPr>
          <a:xfrm>
            <a:off x="1005840" y="896112"/>
            <a:ext cx="548640" cy="36576"/>
          </a:xfrm>
          <a:prstGeom prst="rect">
            <a:avLst/>
          </a:prstGeom>
          <a:solidFill>
            <a:srgbClr val="B5651D"/>
          </a:solidFill>
          <a:ln w="12700">
            <a:solidFill>
              <a:srgbClr val="B5651D"/>
            </a:solidFill>
            <a:prstDash val="solid"/>
          </a:ln>
        </p:spPr>
      </p:sp>
      <p:sp>
        <p:nvSpPr>
          <p:cNvPr id="6" name="Text 4"/>
          <p:cNvSpPr/>
          <p:nvPr/>
        </p:nvSpPr>
        <p:spPr>
          <a:xfrm>
            <a:off x="1005840" y="960120"/>
            <a:ext cx="8229600" cy="274320"/>
          </a:xfrm>
          <a:prstGeom prst="rect">
            <a:avLst/>
          </a:prstGeom>
          <a:noFill/>
          <a:ln/>
        </p:spPr>
        <p:txBody>
          <a:bodyPr wrap="square" lIns="0" tIns="0" rIns="0" bIns="0" rtlCol="0" anchor="ctr"/>
          <a:lstStyle/>
          <a:p>
            <a:pPr indent="0" marL="0">
              <a:buNone/>
            </a:pPr>
            <a:r>
              <a:rPr lang="en-US" sz="1200" i="1" dirty="0">
                <a:solidFill>
                  <a:srgbClr val="5C6B95"/>
                </a:solidFill>
                <a:latin typeface="Calibri" pitchFamily="34" charset="0"/>
                <a:ea typeface="Calibri" pitchFamily="34" charset="-122"/>
                <a:cs typeface="Calibri" pitchFamily="34" charset="-120"/>
              </a:rPr>
              <a:t>What is working on the dev environment</a:t>
            </a:r>
            <a:endParaRPr lang="en-US" sz="1200" dirty="0"/>
          </a:p>
        </p:txBody>
      </p:sp>
      <p:sp>
        <p:nvSpPr>
          <p:cNvPr id="7" name="Shape 5"/>
          <p:cNvSpPr/>
          <p:nvPr/>
        </p:nvSpPr>
        <p:spPr>
          <a:xfrm>
            <a:off x="457200" y="1417320"/>
            <a:ext cx="2011680" cy="1005840"/>
          </a:xfrm>
          <a:prstGeom prst="rect">
            <a:avLst/>
          </a:prstGeom>
          <a:solidFill>
            <a:srgbClr val="1E2761"/>
          </a:solidFill>
          <a:ln w="12700">
            <a:solidFill>
              <a:srgbClr val="1E2761"/>
            </a:solidFill>
            <a:prstDash val="solid"/>
          </a:ln>
        </p:spPr>
      </p:sp>
      <p:sp>
        <p:nvSpPr>
          <p:cNvPr id="8" name="Shape 6"/>
          <p:cNvSpPr/>
          <p:nvPr/>
        </p:nvSpPr>
        <p:spPr>
          <a:xfrm>
            <a:off x="457200" y="1417320"/>
            <a:ext cx="2011680" cy="54864"/>
          </a:xfrm>
          <a:prstGeom prst="rect">
            <a:avLst/>
          </a:prstGeom>
          <a:solidFill>
            <a:srgbClr val="B5651D"/>
          </a:solidFill>
          <a:ln w="12700">
            <a:solidFill>
              <a:srgbClr val="B5651D"/>
            </a:solidFill>
            <a:prstDash val="solid"/>
          </a:ln>
        </p:spPr>
      </p:sp>
      <p:sp>
        <p:nvSpPr>
          <p:cNvPr id="9" name="Text 7"/>
          <p:cNvSpPr/>
          <p:nvPr/>
        </p:nvSpPr>
        <p:spPr>
          <a:xfrm>
            <a:off x="457200" y="1554480"/>
            <a:ext cx="2011680" cy="50292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85%</a:t>
            </a:r>
            <a:endParaRPr lang="en-US" sz="2800" dirty="0"/>
          </a:p>
        </p:txBody>
      </p:sp>
      <p:sp>
        <p:nvSpPr>
          <p:cNvPr id="10" name="Text 8"/>
          <p:cNvSpPr/>
          <p:nvPr/>
        </p:nvSpPr>
        <p:spPr>
          <a:xfrm>
            <a:off x="457200" y="2057400"/>
            <a:ext cx="2011680" cy="274320"/>
          </a:xfrm>
          <a:prstGeom prst="rect">
            <a:avLst/>
          </a:prstGeom>
          <a:noFill/>
          <a:ln/>
        </p:spPr>
        <p:txBody>
          <a:bodyPr wrap="square" lIns="0" tIns="0" rIns="0" bIns="0" rtlCol="0" anchor="ctr"/>
          <a:lstStyle/>
          <a:p>
            <a:pPr algn="ctr" indent="0" marL="0">
              <a:buNone/>
            </a:pPr>
            <a:r>
              <a:rPr lang="en-US" sz="1100" i="1" dirty="0">
                <a:solidFill>
                  <a:srgbClr val="CADCFC"/>
                </a:solidFill>
                <a:latin typeface="Calibri" pitchFamily="34" charset="0"/>
                <a:ea typeface="Calibri" pitchFamily="34" charset="-122"/>
                <a:cs typeface="Calibri" pitchFamily="34" charset="-120"/>
              </a:rPr>
              <a:t>Project complete</a:t>
            </a:r>
            <a:endParaRPr lang="en-US" sz="1100" dirty="0"/>
          </a:p>
        </p:txBody>
      </p:sp>
      <p:sp>
        <p:nvSpPr>
          <p:cNvPr id="11" name="Shape 9"/>
          <p:cNvSpPr/>
          <p:nvPr/>
        </p:nvSpPr>
        <p:spPr>
          <a:xfrm>
            <a:off x="2651760" y="1417320"/>
            <a:ext cx="2011680" cy="1005840"/>
          </a:xfrm>
          <a:prstGeom prst="rect">
            <a:avLst/>
          </a:prstGeom>
          <a:solidFill>
            <a:srgbClr val="1E2761"/>
          </a:solidFill>
          <a:ln w="12700">
            <a:solidFill>
              <a:srgbClr val="1E2761"/>
            </a:solidFill>
            <a:prstDash val="solid"/>
          </a:ln>
        </p:spPr>
      </p:sp>
      <p:sp>
        <p:nvSpPr>
          <p:cNvPr id="12" name="Shape 10"/>
          <p:cNvSpPr/>
          <p:nvPr/>
        </p:nvSpPr>
        <p:spPr>
          <a:xfrm>
            <a:off x="2651760" y="1417320"/>
            <a:ext cx="2011680" cy="54864"/>
          </a:xfrm>
          <a:prstGeom prst="rect">
            <a:avLst/>
          </a:prstGeom>
          <a:solidFill>
            <a:srgbClr val="B5651D"/>
          </a:solidFill>
          <a:ln w="12700">
            <a:solidFill>
              <a:srgbClr val="B5651D"/>
            </a:solidFill>
            <a:prstDash val="solid"/>
          </a:ln>
        </p:spPr>
      </p:sp>
      <p:sp>
        <p:nvSpPr>
          <p:cNvPr id="13" name="Text 11"/>
          <p:cNvSpPr/>
          <p:nvPr/>
        </p:nvSpPr>
        <p:spPr>
          <a:xfrm>
            <a:off x="2651760" y="1554480"/>
            <a:ext cx="2011680" cy="50292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06</a:t>
            </a:r>
            <a:endParaRPr lang="en-US" sz="2800" dirty="0"/>
          </a:p>
        </p:txBody>
      </p:sp>
      <p:sp>
        <p:nvSpPr>
          <p:cNvPr id="14" name="Text 12"/>
          <p:cNvSpPr/>
          <p:nvPr/>
        </p:nvSpPr>
        <p:spPr>
          <a:xfrm>
            <a:off x="2651760" y="2057400"/>
            <a:ext cx="2011680" cy="274320"/>
          </a:xfrm>
          <a:prstGeom prst="rect">
            <a:avLst/>
          </a:prstGeom>
          <a:noFill/>
          <a:ln/>
        </p:spPr>
        <p:txBody>
          <a:bodyPr wrap="square" lIns="0" tIns="0" rIns="0" bIns="0" rtlCol="0" anchor="ctr"/>
          <a:lstStyle/>
          <a:p>
            <a:pPr algn="ctr" indent="0" marL="0">
              <a:buNone/>
            </a:pPr>
            <a:r>
              <a:rPr lang="en-US" sz="1100" i="1" dirty="0">
                <a:solidFill>
                  <a:srgbClr val="CADCFC"/>
                </a:solidFill>
                <a:latin typeface="Calibri" pitchFamily="34" charset="0"/>
                <a:ea typeface="Calibri" pitchFamily="34" charset="-122"/>
                <a:cs typeface="Calibri" pitchFamily="34" charset="-120"/>
              </a:rPr>
              <a:t>Modules implemented</a:t>
            </a:r>
            <a:endParaRPr lang="en-US" sz="1100" dirty="0"/>
          </a:p>
        </p:txBody>
      </p:sp>
      <p:sp>
        <p:nvSpPr>
          <p:cNvPr id="15" name="Shape 13"/>
          <p:cNvSpPr/>
          <p:nvPr/>
        </p:nvSpPr>
        <p:spPr>
          <a:xfrm>
            <a:off x="4846320" y="1417320"/>
            <a:ext cx="2011680" cy="1005840"/>
          </a:xfrm>
          <a:prstGeom prst="rect">
            <a:avLst/>
          </a:prstGeom>
          <a:solidFill>
            <a:srgbClr val="1E2761"/>
          </a:solidFill>
          <a:ln w="12700">
            <a:solidFill>
              <a:srgbClr val="1E2761"/>
            </a:solidFill>
            <a:prstDash val="solid"/>
          </a:ln>
        </p:spPr>
      </p:sp>
      <p:sp>
        <p:nvSpPr>
          <p:cNvPr id="16" name="Shape 14"/>
          <p:cNvSpPr/>
          <p:nvPr/>
        </p:nvSpPr>
        <p:spPr>
          <a:xfrm>
            <a:off x="4846320" y="1417320"/>
            <a:ext cx="2011680" cy="54864"/>
          </a:xfrm>
          <a:prstGeom prst="rect">
            <a:avLst/>
          </a:prstGeom>
          <a:solidFill>
            <a:srgbClr val="B5651D"/>
          </a:solidFill>
          <a:ln w="12700">
            <a:solidFill>
              <a:srgbClr val="B5651D"/>
            </a:solidFill>
            <a:prstDash val="solid"/>
          </a:ln>
        </p:spPr>
      </p:sp>
      <p:sp>
        <p:nvSpPr>
          <p:cNvPr id="17" name="Text 15"/>
          <p:cNvSpPr/>
          <p:nvPr/>
        </p:nvSpPr>
        <p:spPr>
          <a:xfrm>
            <a:off x="4846320" y="1554480"/>
            <a:ext cx="2011680" cy="50292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31</a:t>
            </a:r>
            <a:endParaRPr lang="en-US" sz="2800" dirty="0"/>
          </a:p>
        </p:txBody>
      </p:sp>
      <p:sp>
        <p:nvSpPr>
          <p:cNvPr id="18" name="Text 16"/>
          <p:cNvSpPr/>
          <p:nvPr/>
        </p:nvSpPr>
        <p:spPr>
          <a:xfrm>
            <a:off x="4846320" y="2057400"/>
            <a:ext cx="2011680" cy="274320"/>
          </a:xfrm>
          <a:prstGeom prst="rect">
            <a:avLst/>
          </a:prstGeom>
          <a:noFill/>
          <a:ln/>
        </p:spPr>
        <p:txBody>
          <a:bodyPr wrap="square" lIns="0" tIns="0" rIns="0" bIns="0" rtlCol="0" anchor="ctr"/>
          <a:lstStyle/>
          <a:p>
            <a:pPr algn="ctr" indent="0" marL="0">
              <a:buNone/>
            </a:pPr>
            <a:r>
              <a:rPr lang="en-US" sz="1100" i="1" dirty="0">
                <a:solidFill>
                  <a:srgbClr val="CADCFC"/>
                </a:solidFill>
                <a:latin typeface="Calibri" pitchFamily="34" charset="0"/>
                <a:ea typeface="Calibri" pitchFamily="34" charset="-122"/>
                <a:cs typeface="Calibri" pitchFamily="34" charset="-120"/>
              </a:rPr>
              <a:t>Seed questions</a:t>
            </a:r>
            <a:endParaRPr lang="en-US" sz="1100" dirty="0"/>
          </a:p>
        </p:txBody>
      </p:sp>
      <p:sp>
        <p:nvSpPr>
          <p:cNvPr id="19" name="Shape 17"/>
          <p:cNvSpPr/>
          <p:nvPr/>
        </p:nvSpPr>
        <p:spPr>
          <a:xfrm>
            <a:off x="7040880" y="1417320"/>
            <a:ext cx="2011680" cy="1005840"/>
          </a:xfrm>
          <a:prstGeom prst="rect">
            <a:avLst/>
          </a:prstGeom>
          <a:solidFill>
            <a:srgbClr val="1E2761"/>
          </a:solidFill>
          <a:ln w="12700">
            <a:solidFill>
              <a:srgbClr val="1E2761"/>
            </a:solidFill>
            <a:prstDash val="solid"/>
          </a:ln>
        </p:spPr>
      </p:sp>
      <p:sp>
        <p:nvSpPr>
          <p:cNvPr id="20" name="Shape 18"/>
          <p:cNvSpPr/>
          <p:nvPr/>
        </p:nvSpPr>
        <p:spPr>
          <a:xfrm>
            <a:off x="7040880" y="1417320"/>
            <a:ext cx="2011680" cy="54864"/>
          </a:xfrm>
          <a:prstGeom prst="rect">
            <a:avLst/>
          </a:prstGeom>
          <a:solidFill>
            <a:srgbClr val="B5651D"/>
          </a:solidFill>
          <a:ln w="12700">
            <a:solidFill>
              <a:srgbClr val="B5651D"/>
            </a:solidFill>
            <a:prstDash val="solid"/>
          </a:ln>
        </p:spPr>
      </p:sp>
      <p:sp>
        <p:nvSpPr>
          <p:cNvPr id="21" name="Text 19"/>
          <p:cNvSpPr/>
          <p:nvPr/>
        </p:nvSpPr>
        <p:spPr>
          <a:xfrm>
            <a:off x="7040880" y="1554480"/>
            <a:ext cx="2011680" cy="502920"/>
          </a:xfrm>
          <a:prstGeom prst="rect">
            <a:avLst/>
          </a:prstGeom>
          <a:noFill/>
          <a:ln/>
        </p:spPr>
        <p:txBody>
          <a:bodyPr wrap="square" lIns="0" tIns="0" rIns="0" bIns="0"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200+</a:t>
            </a:r>
            <a:endParaRPr lang="en-US" sz="2800" dirty="0"/>
          </a:p>
        </p:txBody>
      </p:sp>
      <p:sp>
        <p:nvSpPr>
          <p:cNvPr id="22" name="Text 20"/>
          <p:cNvSpPr/>
          <p:nvPr/>
        </p:nvSpPr>
        <p:spPr>
          <a:xfrm>
            <a:off x="7040880" y="2057400"/>
            <a:ext cx="2011680" cy="274320"/>
          </a:xfrm>
          <a:prstGeom prst="rect">
            <a:avLst/>
          </a:prstGeom>
          <a:noFill/>
          <a:ln/>
        </p:spPr>
        <p:txBody>
          <a:bodyPr wrap="square" lIns="0" tIns="0" rIns="0" bIns="0" rtlCol="0" anchor="ctr"/>
          <a:lstStyle/>
          <a:p>
            <a:pPr algn="ctr" indent="0" marL="0">
              <a:buNone/>
            </a:pPr>
            <a:r>
              <a:rPr lang="en-US" sz="1100" i="1" dirty="0">
                <a:solidFill>
                  <a:srgbClr val="CADCFC"/>
                </a:solidFill>
                <a:latin typeface="Calibri" pitchFamily="34" charset="0"/>
                <a:ea typeface="Calibri" pitchFamily="34" charset="-122"/>
                <a:cs typeface="Calibri" pitchFamily="34" charset="-120"/>
              </a:rPr>
              <a:t>Skills detected</a:t>
            </a:r>
            <a:endParaRPr lang="en-US" sz="1100" dirty="0"/>
          </a:p>
        </p:txBody>
      </p:sp>
      <p:sp>
        <p:nvSpPr>
          <p:cNvPr id="23" name="Text 21"/>
          <p:cNvSpPr/>
          <p:nvPr/>
        </p:nvSpPr>
        <p:spPr>
          <a:xfrm>
            <a:off x="457200" y="2697480"/>
            <a:ext cx="8229600" cy="274320"/>
          </a:xfrm>
          <a:prstGeom prst="rect">
            <a:avLst/>
          </a:prstGeom>
          <a:noFill/>
          <a:ln/>
        </p:spPr>
        <p:txBody>
          <a:bodyPr wrap="square" lIns="0" tIns="0" rIns="0" bIns="0" rtlCol="0" anchor="ctr"/>
          <a:lstStyle/>
          <a:p>
            <a:pPr indent="0" marL="0">
              <a:buNone/>
            </a:pPr>
            <a:r>
              <a:rPr lang="en-US" sz="1300" b="1" spc="200" kern="0" dirty="0">
                <a:solidFill>
                  <a:srgbClr val="B5651D"/>
                </a:solidFill>
                <a:latin typeface="Georgia" pitchFamily="34" charset="0"/>
                <a:ea typeface="Georgia" pitchFamily="34" charset="-122"/>
                <a:cs typeface="Georgia" pitchFamily="34" charset="-120"/>
              </a:rPr>
              <a:t>Completed Features</a:t>
            </a:r>
            <a:endParaRPr lang="en-US" sz="1300" dirty="0"/>
          </a:p>
        </p:txBody>
      </p:sp>
      <p:sp>
        <p:nvSpPr>
          <p:cNvPr id="24" name="Text 22"/>
          <p:cNvSpPr/>
          <p:nvPr/>
        </p:nvSpPr>
        <p:spPr>
          <a:xfrm>
            <a:off x="457200" y="3108960"/>
            <a:ext cx="411480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(1) Authentication flow (register, OTP verify, login)</a:t>
            </a:r>
            <a:endParaRPr lang="en-US" sz="1100" dirty="0"/>
          </a:p>
        </p:txBody>
      </p:sp>
      <p:sp>
        <p:nvSpPr>
          <p:cNvPr id="25" name="Text 23"/>
          <p:cNvSpPr/>
          <p:nvPr/>
        </p:nvSpPr>
        <p:spPr>
          <a:xfrm>
            <a:off x="457200" y="3456432"/>
            <a:ext cx="411480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(2) Resume upload and skill extraction</a:t>
            </a:r>
            <a:endParaRPr lang="en-US" sz="1100" dirty="0"/>
          </a:p>
        </p:txBody>
      </p:sp>
      <p:sp>
        <p:nvSpPr>
          <p:cNvPr id="26" name="Text 24"/>
          <p:cNvSpPr/>
          <p:nvPr/>
        </p:nvSpPr>
        <p:spPr>
          <a:xfrm>
            <a:off x="457200" y="3803904"/>
            <a:ext cx="411480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(3) Live voice interview with Sarah (Groq LLM)</a:t>
            </a:r>
            <a:endParaRPr lang="en-US" sz="1100" dirty="0"/>
          </a:p>
        </p:txBody>
      </p:sp>
      <p:sp>
        <p:nvSpPr>
          <p:cNvPr id="27" name="Text 25"/>
          <p:cNvSpPr/>
          <p:nvPr/>
        </p:nvSpPr>
        <p:spPr>
          <a:xfrm>
            <a:off x="4754880" y="3108960"/>
            <a:ext cx="411480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(4) Real-time camera coaching and metrics</a:t>
            </a:r>
            <a:endParaRPr lang="en-US" sz="1100" dirty="0"/>
          </a:p>
        </p:txBody>
      </p:sp>
      <p:sp>
        <p:nvSpPr>
          <p:cNvPr id="28" name="Text 26"/>
          <p:cNvSpPr/>
          <p:nvPr/>
        </p:nvSpPr>
        <p:spPr>
          <a:xfrm>
            <a:off x="4754880" y="3456432"/>
            <a:ext cx="411480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(5) Answer evaluation using RAG and rubric</a:t>
            </a:r>
            <a:endParaRPr lang="en-US" sz="1100" dirty="0"/>
          </a:p>
        </p:txBody>
      </p:sp>
      <p:sp>
        <p:nvSpPr>
          <p:cNvPr id="29" name="Text 27"/>
          <p:cNvSpPr/>
          <p:nvPr/>
        </p:nvSpPr>
        <p:spPr>
          <a:xfrm>
            <a:off x="4754880" y="3803904"/>
            <a:ext cx="4114800" cy="27432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(6) Admin dashboard with charts and logs</a:t>
            </a:r>
            <a:endParaRPr lang="en-US" sz="1100" dirty="0"/>
          </a:p>
        </p:txBody>
      </p:sp>
      <p:sp>
        <p:nvSpPr>
          <p:cNvPr id="30" name="Shape 28"/>
          <p:cNvSpPr/>
          <p:nvPr/>
        </p:nvSpPr>
        <p:spPr>
          <a:xfrm>
            <a:off x="0" y="4937760"/>
            <a:ext cx="9144000" cy="27432"/>
          </a:xfrm>
          <a:prstGeom prst="rect">
            <a:avLst/>
          </a:prstGeom>
          <a:solidFill>
            <a:srgbClr val="CFD4E6"/>
          </a:solidFill>
          <a:ln w="12700">
            <a:solidFill>
              <a:srgbClr val="CFD4E6"/>
            </a:solidFill>
            <a:prstDash val="solid"/>
          </a:ln>
        </p:spPr>
      </p:sp>
      <p:sp>
        <p:nvSpPr>
          <p:cNvPr id="31" name="Text 29"/>
          <p:cNvSpPr/>
          <p:nvPr/>
        </p:nvSpPr>
        <p:spPr>
          <a:xfrm>
            <a:off x="457200" y="4965192"/>
            <a:ext cx="6400800" cy="182880"/>
          </a:xfrm>
          <a:prstGeom prst="rect">
            <a:avLst/>
          </a:prstGeom>
          <a:noFill/>
          <a:ln/>
        </p:spPr>
        <p:txBody>
          <a:bodyPr wrap="square" lIns="0" tIns="0" rIns="0" bIns="0" rtlCol="0" anchor="ctr"/>
          <a:lstStyle/>
          <a:p>
            <a:pPr indent="0" marL="0">
              <a:buNone/>
            </a:pPr>
            <a:r>
              <a:rPr lang="en-US" sz="900" dirty="0">
                <a:solidFill>
                  <a:srgbClr val="5C6B95"/>
                </a:solidFill>
                <a:latin typeface="Calibri" pitchFamily="34" charset="0"/>
                <a:ea typeface="Calibri" pitchFamily="34" charset="-122"/>
                <a:cs typeface="Calibri" pitchFamily="34" charset="-120"/>
              </a:rPr>
              <a:t>AI Interview Platform · Project Report</a:t>
            </a:r>
            <a:endParaRPr lang="en-US" sz="900" dirty="0"/>
          </a:p>
        </p:txBody>
      </p:sp>
      <p:sp>
        <p:nvSpPr>
          <p:cNvPr id="32" name="Text 30"/>
          <p:cNvSpPr/>
          <p:nvPr/>
        </p:nvSpPr>
        <p:spPr>
          <a:xfrm>
            <a:off x="8412480" y="4965192"/>
            <a:ext cx="365760" cy="182880"/>
          </a:xfrm>
          <a:prstGeom prst="rect">
            <a:avLst/>
          </a:prstGeom>
          <a:noFill/>
          <a:ln/>
        </p:spPr>
        <p:txBody>
          <a:bodyPr wrap="square" lIns="0" tIns="0" rIns="0" bIns="0" rtlCol="0" anchor="ctr"/>
          <a:lstStyle/>
          <a:p>
            <a:pPr algn="r" indent="0" marL="0">
              <a:buNone/>
            </a:pPr>
            <a:r>
              <a:rPr lang="en-US" sz="900" dirty="0">
                <a:solidFill>
                  <a:srgbClr val="5C6B9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457200" y="411480"/>
            <a:ext cx="411480" cy="320040"/>
          </a:xfrm>
          <a:prstGeom prst="rect">
            <a:avLst/>
          </a:prstGeom>
          <a:solidFill>
            <a:srgbClr val="1E2761"/>
          </a:solidFill>
          <a:ln w="12700">
            <a:solidFill>
              <a:srgbClr val="1E2761"/>
            </a:solidFill>
            <a:prstDash val="solid"/>
          </a:ln>
        </p:spPr>
      </p:sp>
      <p:sp>
        <p:nvSpPr>
          <p:cNvPr id="3" name="Text 1"/>
          <p:cNvSpPr/>
          <p:nvPr/>
        </p:nvSpPr>
        <p:spPr>
          <a:xfrm>
            <a:off x="457200" y="411480"/>
            <a:ext cx="4114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10</a:t>
            </a:r>
            <a:endParaRPr lang="en-US" sz="1400" dirty="0"/>
          </a:p>
        </p:txBody>
      </p:sp>
      <p:sp>
        <p:nvSpPr>
          <p:cNvPr id="4" name="Text 2"/>
          <p:cNvSpPr/>
          <p:nvPr/>
        </p:nvSpPr>
        <p:spPr>
          <a:xfrm>
            <a:off x="1005840" y="365760"/>
            <a:ext cx="822960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Limitations &amp; Future Scope</a:t>
            </a:r>
            <a:endParaRPr lang="en-US" sz="2600" dirty="0"/>
          </a:p>
        </p:txBody>
      </p:sp>
      <p:sp>
        <p:nvSpPr>
          <p:cNvPr id="5" name="Shape 3"/>
          <p:cNvSpPr/>
          <p:nvPr/>
        </p:nvSpPr>
        <p:spPr>
          <a:xfrm>
            <a:off x="1005840" y="896112"/>
            <a:ext cx="548640" cy="36576"/>
          </a:xfrm>
          <a:prstGeom prst="rect">
            <a:avLst/>
          </a:prstGeom>
          <a:solidFill>
            <a:srgbClr val="B5651D"/>
          </a:solidFill>
          <a:ln w="12700">
            <a:solidFill>
              <a:srgbClr val="B5651D"/>
            </a:solidFill>
            <a:prstDash val="solid"/>
          </a:ln>
        </p:spPr>
      </p:sp>
      <p:sp>
        <p:nvSpPr>
          <p:cNvPr id="6" name="Shape 4"/>
          <p:cNvSpPr/>
          <p:nvPr/>
        </p:nvSpPr>
        <p:spPr>
          <a:xfrm>
            <a:off x="457200" y="1417320"/>
            <a:ext cx="4023360" cy="3246120"/>
          </a:xfrm>
          <a:prstGeom prst="rect">
            <a:avLst/>
          </a:prstGeom>
          <a:solidFill>
            <a:srgbClr val="FFFFFF"/>
          </a:solidFill>
          <a:ln w="12700">
            <a:solidFill>
              <a:srgbClr val="1E2761"/>
            </a:solidFill>
            <a:prstDash val="solid"/>
          </a:ln>
        </p:spPr>
      </p:sp>
      <p:sp>
        <p:nvSpPr>
          <p:cNvPr id="7" name="Shape 5"/>
          <p:cNvSpPr/>
          <p:nvPr/>
        </p:nvSpPr>
        <p:spPr>
          <a:xfrm>
            <a:off x="457200" y="1417320"/>
            <a:ext cx="4023360" cy="365760"/>
          </a:xfrm>
          <a:prstGeom prst="rect">
            <a:avLst/>
          </a:prstGeom>
          <a:solidFill>
            <a:srgbClr val="1E2761"/>
          </a:solidFill>
          <a:ln w="12700">
            <a:solidFill>
              <a:srgbClr val="1E2761"/>
            </a:solidFill>
            <a:prstDash val="solid"/>
          </a:ln>
        </p:spPr>
      </p:sp>
      <p:sp>
        <p:nvSpPr>
          <p:cNvPr id="8" name="Text 6"/>
          <p:cNvSpPr/>
          <p:nvPr/>
        </p:nvSpPr>
        <p:spPr>
          <a:xfrm>
            <a:off x="594360" y="1463040"/>
            <a:ext cx="3749040" cy="27432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Limitations</a:t>
            </a:r>
            <a:endParaRPr lang="en-US" sz="1300" dirty="0"/>
          </a:p>
        </p:txBody>
      </p:sp>
      <p:sp>
        <p:nvSpPr>
          <p:cNvPr id="9" name="Text 7"/>
          <p:cNvSpPr/>
          <p:nvPr/>
        </p:nvSpPr>
        <p:spPr>
          <a:xfrm>
            <a:off x="640080" y="1920240"/>
            <a:ext cx="3794760" cy="36576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  Only English is supported at this time.</a:t>
            </a:r>
            <a:endParaRPr lang="en-US" sz="1100" dirty="0"/>
          </a:p>
        </p:txBody>
      </p:sp>
      <p:sp>
        <p:nvSpPr>
          <p:cNvPr id="10" name="Text 8"/>
          <p:cNvSpPr/>
          <p:nvPr/>
        </p:nvSpPr>
        <p:spPr>
          <a:xfrm>
            <a:off x="640080" y="2359152"/>
            <a:ext cx="3794760" cy="36576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  Browser-based STT depends on the browser engine.</a:t>
            </a:r>
            <a:endParaRPr lang="en-US" sz="1100" dirty="0"/>
          </a:p>
        </p:txBody>
      </p:sp>
      <p:sp>
        <p:nvSpPr>
          <p:cNvPr id="11" name="Text 9"/>
          <p:cNvSpPr/>
          <p:nvPr/>
        </p:nvSpPr>
        <p:spPr>
          <a:xfrm>
            <a:off x="640080" y="2798064"/>
            <a:ext cx="3794760" cy="36576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  Not yet deployed to a production server.</a:t>
            </a:r>
            <a:endParaRPr lang="en-US" sz="1100" dirty="0"/>
          </a:p>
        </p:txBody>
      </p:sp>
      <p:sp>
        <p:nvSpPr>
          <p:cNvPr id="12" name="Text 10"/>
          <p:cNvSpPr/>
          <p:nvPr/>
        </p:nvSpPr>
        <p:spPr>
          <a:xfrm>
            <a:off x="640080" y="3236976"/>
            <a:ext cx="3794760" cy="36576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  Automated end-to-end tests are not in place.</a:t>
            </a:r>
            <a:endParaRPr lang="en-US" sz="1100" dirty="0"/>
          </a:p>
        </p:txBody>
      </p:sp>
      <p:sp>
        <p:nvSpPr>
          <p:cNvPr id="13" name="Text 11"/>
          <p:cNvSpPr/>
          <p:nvPr/>
        </p:nvSpPr>
        <p:spPr>
          <a:xfrm>
            <a:off x="640080" y="3675888"/>
            <a:ext cx="3794760" cy="36576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  Mobile layout needs polishing for small screens.</a:t>
            </a:r>
            <a:endParaRPr lang="en-US" sz="1100" dirty="0"/>
          </a:p>
        </p:txBody>
      </p:sp>
      <p:sp>
        <p:nvSpPr>
          <p:cNvPr id="14" name="Text 12"/>
          <p:cNvSpPr/>
          <p:nvPr/>
        </p:nvSpPr>
        <p:spPr>
          <a:xfrm>
            <a:off x="640080" y="4114800"/>
            <a:ext cx="3794760" cy="36576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  Voice pipeline assumes a stable microphone.</a:t>
            </a:r>
            <a:endParaRPr lang="en-US" sz="1100" dirty="0"/>
          </a:p>
        </p:txBody>
      </p:sp>
      <p:sp>
        <p:nvSpPr>
          <p:cNvPr id="15" name="Shape 13"/>
          <p:cNvSpPr/>
          <p:nvPr/>
        </p:nvSpPr>
        <p:spPr>
          <a:xfrm>
            <a:off x="4663440" y="1417320"/>
            <a:ext cx="4023360" cy="3246120"/>
          </a:xfrm>
          <a:prstGeom prst="rect">
            <a:avLst/>
          </a:prstGeom>
          <a:solidFill>
            <a:srgbClr val="FFFFFF"/>
          </a:solidFill>
          <a:ln w="12700">
            <a:solidFill>
              <a:srgbClr val="1E2761"/>
            </a:solidFill>
            <a:prstDash val="solid"/>
          </a:ln>
        </p:spPr>
      </p:sp>
      <p:sp>
        <p:nvSpPr>
          <p:cNvPr id="16" name="Shape 14"/>
          <p:cNvSpPr/>
          <p:nvPr/>
        </p:nvSpPr>
        <p:spPr>
          <a:xfrm>
            <a:off x="4663440" y="1417320"/>
            <a:ext cx="4023360" cy="365760"/>
          </a:xfrm>
          <a:prstGeom prst="rect">
            <a:avLst/>
          </a:prstGeom>
          <a:solidFill>
            <a:srgbClr val="B5651D"/>
          </a:solidFill>
          <a:ln w="12700">
            <a:solidFill>
              <a:srgbClr val="B5651D"/>
            </a:solidFill>
            <a:prstDash val="solid"/>
          </a:ln>
        </p:spPr>
      </p:sp>
      <p:sp>
        <p:nvSpPr>
          <p:cNvPr id="17" name="Text 15"/>
          <p:cNvSpPr/>
          <p:nvPr/>
        </p:nvSpPr>
        <p:spPr>
          <a:xfrm>
            <a:off x="4800600" y="1463040"/>
            <a:ext cx="3749040" cy="274320"/>
          </a:xfrm>
          <a:prstGeom prst="rect">
            <a:avLst/>
          </a:prstGeom>
          <a:noFill/>
          <a:ln/>
        </p:spPr>
        <p:txBody>
          <a:bodyPr wrap="square" lIns="0" tIns="0" rIns="0" bIns="0" rtlCol="0" anchor="ctr"/>
          <a:lstStyle/>
          <a:p>
            <a:pPr indent="0" marL="0">
              <a:buNone/>
            </a:pPr>
            <a:r>
              <a:rPr lang="en-US" sz="1300" b="1" dirty="0">
                <a:solidFill>
                  <a:srgbClr val="0B1437"/>
                </a:solidFill>
                <a:latin typeface="Georgia" pitchFamily="34" charset="0"/>
                <a:ea typeface="Georgia" pitchFamily="34" charset="-122"/>
                <a:cs typeface="Georgia" pitchFamily="34" charset="-120"/>
              </a:rPr>
              <a:t>Future Scope</a:t>
            </a:r>
            <a:endParaRPr lang="en-US" sz="1300" dirty="0"/>
          </a:p>
        </p:txBody>
      </p:sp>
      <p:sp>
        <p:nvSpPr>
          <p:cNvPr id="18" name="Text 16"/>
          <p:cNvSpPr/>
          <p:nvPr/>
        </p:nvSpPr>
        <p:spPr>
          <a:xfrm>
            <a:off x="4846320" y="1920240"/>
            <a:ext cx="3794760" cy="36576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  Production deployment with CI/CD pipeline.</a:t>
            </a:r>
            <a:endParaRPr lang="en-US" sz="1100" dirty="0"/>
          </a:p>
        </p:txBody>
      </p:sp>
      <p:sp>
        <p:nvSpPr>
          <p:cNvPr id="19" name="Text 17"/>
          <p:cNvSpPr/>
          <p:nvPr/>
        </p:nvSpPr>
        <p:spPr>
          <a:xfrm>
            <a:off x="4846320" y="2359152"/>
            <a:ext cx="3794760" cy="36576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  Android and iOS app using React Native.</a:t>
            </a:r>
            <a:endParaRPr lang="en-US" sz="1100" dirty="0"/>
          </a:p>
        </p:txBody>
      </p:sp>
      <p:sp>
        <p:nvSpPr>
          <p:cNvPr id="20" name="Text 18"/>
          <p:cNvSpPr/>
          <p:nvPr/>
        </p:nvSpPr>
        <p:spPr>
          <a:xfrm>
            <a:off x="4846320" y="2798064"/>
            <a:ext cx="3794760" cy="36576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  Hindi and regional language support.</a:t>
            </a:r>
            <a:endParaRPr lang="en-US" sz="1100" dirty="0"/>
          </a:p>
        </p:txBody>
      </p:sp>
      <p:sp>
        <p:nvSpPr>
          <p:cNvPr id="21" name="Text 19"/>
          <p:cNvSpPr/>
          <p:nvPr/>
        </p:nvSpPr>
        <p:spPr>
          <a:xfrm>
            <a:off x="4846320" y="3236976"/>
            <a:ext cx="3794760" cy="36576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  Saving of interview session videos.</a:t>
            </a:r>
            <a:endParaRPr lang="en-US" sz="1100" dirty="0"/>
          </a:p>
        </p:txBody>
      </p:sp>
      <p:sp>
        <p:nvSpPr>
          <p:cNvPr id="22" name="Text 20"/>
          <p:cNvSpPr/>
          <p:nvPr/>
        </p:nvSpPr>
        <p:spPr>
          <a:xfrm>
            <a:off x="4846320" y="3675888"/>
            <a:ext cx="3794760" cy="36576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  Payment gateway integration for premium tier.</a:t>
            </a:r>
            <a:endParaRPr lang="en-US" sz="1100" dirty="0"/>
          </a:p>
        </p:txBody>
      </p:sp>
      <p:sp>
        <p:nvSpPr>
          <p:cNvPr id="23" name="Text 21"/>
          <p:cNvSpPr/>
          <p:nvPr/>
        </p:nvSpPr>
        <p:spPr>
          <a:xfrm>
            <a:off x="4846320" y="4114800"/>
            <a:ext cx="3794760" cy="365760"/>
          </a:xfrm>
          <a:prstGeom prst="rect">
            <a:avLst/>
          </a:prstGeom>
          <a:noFill/>
          <a:ln/>
        </p:spPr>
        <p:txBody>
          <a:bodyPr wrap="square" lIns="0" tIns="0" rIns="0" bIns="0" rtlCol="0" anchor="ctr"/>
          <a:lstStyle/>
          <a:p>
            <a:pPr indent="0" marL="0">
              <a:buNone/>
            </a:pPr>
            <a:r>
              <a:rPr lang="en-US" sz="1100" dirty="0">
                <a:solidFill>
                  <a:srgbClr val="1E2761"/>
                </a:solidFill>
                <a:latin typeface="Calibri" pitchFamily="34" charset="0"/>
                <a:ea typeface="Calibri" pitchFamily="34" charset="-122"/>
                <a:cs typeface="Calibri" pitchFamily="34" charset="-120"/>
              </a:rPr>
              <a:t>•  Automated benchmark against real HR interviews.</a:t>
            </a:r>
            <a:endParaRPr lang="en-US" sz="1100" dirty="0"/>
          </a:p>
        </p:txBody>
      </p:sp>
      <p:sp>
        <p:nvSpPr>
          <p:cNvPr id="24" name="Shape 22"/>
          <p:cNvSpPr/>
          <p:nvPr/>
        </p:nvSpPr>
        <p:spPr>
          <a:xfrm>
            <a:off x="0" y="4937760"/>
            <a:ext cx="9144000" cy="27432"/>
          </a:xfrm>
          <a:prstGeom prst="rect">
            <a:avLst/>
          </a:prstGeom>
          <a:solidFill>
            <a:srgbClr val="CFD4E6"/>
          </a:solidFill>
          <a:ln w="12700">
            <a:solidFill>
              <a:srgbClr val="CFD4E6"/>
            </a:solidFill>
            <a:prstDash val="solid"/>
          </a:ln>
        </p:spPr>
      </p:sp>
      <p:sp>
        <p:nvSpPr>
          <p:cNvPr id="25" name="Text 23"/>
          <p:cNvSpPr/>
          <p:nvPr/>
        </p:nvSpPr>
        <p:spPr>
          <a:xfrm>
            <a:off x="457200" y="4965192"/>
            <a:ext cx="6400800" cy="182880"/>
          </a:xfrm>
          <a:prstGeom prst="rect">
            <a:avLst/>
          </a:prstGeom>
          <a:noFill/>
          <a:ln/>
        </p:spPr>
        <p:txBody>
          <a:bodyPr wrap="square" lIns="0" tIns="0" rIns="0" bIns="0" rtlCol="0" anchor="ctr"/>
          <a:lstStyle/>
          <a:p>
            <a:pPr indent="0" marL="0">
              <a:buNone/>
            </a:pPr>
            <a:r>
              <a:rPr lang="en-US" sz="900" dirty="0">
                <a:solidFill>
                  <a:srgbClr val="5C6B95"/>
                </a:solidFill>
                <a:latin typeface="Calibri" pitchFamily="34" charset="0"/>
                <a:ea typeface="Calibri" pitchFamily="34" charset="-122"/>
                <a:cs typeface="Calibri" pitchFamily="34" charset="-120"/>
              </a:rPr>
              <a:t>AI Interview Platform · Project Report</a:t>
            </a:r>
            <a:endParaRPr lang="en-US" sz="900" dirty="0"/>
          </a:p>
        </p:txBody>
      </p:sp>
      <p:sp>
        <p:nvSpPr>
          <p:cNvPr id="26" name="Text 24"/>
          <p:cNvSpPr/>
          <p:nvPr/>
        </p:nvSpPr>
        <p:spPr>
          <a:xfrm>
            <a:off x="8412480" y="4965192"/>
            <a:ext cx="365760" cy="182880"/>
          </a:xfrm>
          <a:prstGeom prst="rect">
            <a:avLst/>
          </a:prstGeom>
          <a:noFill/>
          <a:ln/>
        </p:spPr>
        <p:txBody>
          <a:bodyPr wrap="square" lIns="0" tIns="0" rIns="0" bIns="0" rtlCol="0" anchor="ctr"/>
          <a:lstStyle/>
          <a:p>
            <a:pPr algn="r" indent="0" marL="0">
              <a:buNone/>
            </a:pPr>
            <a:r>
              <a:rPr lang="en-US" sz="900" dirty="0">
                <a:solidFill>
                  <a:srgbClr val="5C6B9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p:bgPr>
    </p:bg>
    <p:spTree>
      <p:nvGrpSpPr>
        <p:cNvPr id="1" name=""/>
        <p:cNvGrpSpPr/>
        <p:nvPr/>
      </p:nvGrpSpPr>
      <p:grpSpPr>
        <a:xfrm>
          <a:off x="0" y="0"/>
          <a:ext cx="0" cy="0"/>
          <a:chOff x="0" y="0"/>
          <a:chExt cx="0" cy="0"/>
        </a:xfrm>
      </p:grpSpPr>
      <p:sp>
        <p:nvSpPr>
          <p:cNvPr id="2" name="Shape 0"/>
          <p:cNvSpPr/>
          <p:nvPr/>
        </p:nvSpPr>
        <p:spPr>
          <a:xfrm>
            <a:off x="457200" y="411480"/>
            <a:ext cx="411480" cy="320040"/>
          </a:xfrm>
          <a:prstGeom prst="rect">
            <a:avLst/>
          </a:prstGeom>
          <a:solidFill>
            <a:srgbClr val="1E2761"/>
          </a:solidFill>
          <a:ln w="12700">
            <a:solidFill>
              <a:srgbClr val="1E2761"/>
            </a:solidFill>
            <a:prstDash val="solid"/>
          </a:ln>
        </p:spPr>
      </p:sp>
      <p:sp>
        <p:nvSpPr>
          <p:cNvPr id="3" name="Text 1"/>
          <p:cNvSpPr/>
          <p:nvPr/>
        </p:nvSpPr>
        <p:spPr>
          <a:xfrm>
            <a:off x="457200" y="411480"/>
            <a:ext cx="41148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11</a:t>
            </a:r>
            <a:endParaRPr lang="en-US" sz="1400" dirty="0"/>
          </a:p>
        </p:txBody>
      </p:sp>
      <p:sp>
        <p:nvSpPr>
          <p:cNvPr id="4" name="Text 2"/>
          <p:cNvSpPr/>
          <p:nvPr/>
        </p:nvSpPr>
        <p:spPr>
          <a:xfrm>
            <a:off x="1005840" y="365760"/>
            <a:ext cx="822960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Conclusion</a:t>
            </a:r>
            <a:endParaRPr lang="en-US" sz="2600" dirty="0"/>
          </a:p>
        </p:txBody>
      </p:sp>
      <p:sp>
        <p:nvSpPr>
          <p:cNvPr id="5" name="Shape 3"/>
          <p:cNvSpPr/>
          <p:nvPr/>
        </p:nvSpPr>
        <p:spPr>
          <a:xfrm>
            <a:off x="1005840" y="896112"/>
            <a:ext cx="548640" cy="36576"/>
          </a:xfrm>
          <a:prstGeom prst="rect">
            <a:avLst/>
          </a:prstGeom>
          <a:solidFill>
            <a:srgbClr val="B5651D"/>
          </a:solidFill>
          <a:ln w="12700">
            <a:solidFill>
              <a:srgbClr val="B5651D"/>
            </a:solidFill>
            <a:prstDash val="solid"/>
          </a:ln>
        </p:spPr>
      </p:sp>
      <p:sp>
        <p:nvSpPr>
          <p:cNvPr id="6" name="Shape 4"/>
          <p:cNvSpPr/>
          <p:nvPr/>
        </p:nvSpPr>
        <p:spPr>
          <a:xfrm>
            <a:off x="457200" y="1417320"/>
            <a:ext cx="8229600" cy="2103120"/>
          </a:xfrm>
          <a:prstGeom prst="rect">
            <a:avLst/>
          </a:prstGeom>
          <a:solidFill>
            <a:srgbClr val="FFFFFF"/>
          </a:solidFill>
          <a:ln w="12700">
            <a:solidFill>
              <a:srgbClr val="1E2761"/>
            </a:solidFill>
            <a:prstDash val="solid"/>
          </a:ln>
        </p:spPr>
      </p:sp>
      <p:sp>
        <p:nvSpPr>
          <p:cNvPr id="7" name="Shape 5"/>
          <p:cNvSpPr/>
          <p:nvPr/>
        </p:nvSpPr>
        <p:spPr>
          <a:xfrm>
            <a:off x="457200" y="1417320"/>
            <a:ext cx="91440" cy="2103120"/>
          </a:xfrm>
          <a:prstGeom prst="rect">
            <a:avLst/>
          </a:prstGeom>
          <a:solidFill>
            <a:srgbClr val="B5651D"/>
          </a:solidFill>
          <a:ln w="12700">
            <a:solidFill>
              <a:srgbClr val="B5651D"/>
            </a:solidFill>
            <a:prstDash val="solid"/>
          </a:ln>
        </p:spPr>
      </p:sp>
      <p:sp>
        <p:nvSpPr>
          <p:cNvPr id="8" name="Text 6"/>
          <p:cNvSpPr/>
          <p:nvPr/>
        </p:nvSpPr>
        <p:spPr>
          <a:xfrm>
            <a:off x="685800" y="1508760"/>
            <a:ext cx="7909560" cy="1920240"/>
          </a:xfrm>
          <a:prstGeom prst="rect">
            <a:avLst/>
          </a:prstGeom>
          <a:noFill/>
          <a:ln/>
        </p:spPr>
        <p:txBody>
          <a:bodyPr wrap="square" lIns="0" tIns="0" rIns="0" bIns="0"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This project proposes and implements an AI-based interview preparation platform that addresses the gap in realistic, low-cost practice tools. The system successfully integrates a Large Language Model for dynamic question generation, a RAG pipeline for objective answer evaluation, and real-time multimodal feedback using MediaPipe. All major software requirements have been realised in the development environment. The remaining work is focused on production deployment, automated testing, and additional language support.</a:t>
            </a:r>
            <a:endParaRPr lang="en-US" sz="1300" dirty="0"/>
          </a:p>
        </p:txBody>
      </p:sp>
      <p:sp>
        <p:nvSpPr>
          <p:cNvPr id="9" name="Shape 7"/>
          <p:cNvSpPr/>
          <p:nvPr/>
        </p:nvSpPr>
        <p:spPr>
          <a:xfrm>
            <a:off x="457200" y="3703320"/>
            <a:ext cx="8229600" cy="1005840"/>
          </a:xfrm>
          <a:prstGeom prst="rect">
            <a:avLst/>
          </a:prstGeom>
          <a:solidFill>
            <a:srgbClr val="EEF1F9"/>
          </a:solidFill>
          <a:ln w="12700">
            <a:solidFill>
              <a:srgbClr val="CFD4E6"/>
            </a:solidFill>
            <a:prstDash val="solid"/>
          </a:ln>
        </p:spPr>
      </p:sp>
      <p:sp>
        <p:nvSpPr>
          <p:cNvPr id="10" name="Text 8"/>
          <p:cNvSpPr/>
          <p:nvPr/>
        </p:nvSpPr>
        <p:spPr>
          <a:xfrm>
            <a:off x="594360" y="3749040"/>
            <a:ext cx="7955280" cy="274320"/>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Selected References</a:t>
            </a:r>
            <a:endParaRPr lang="en-US" sz="1200" dirty="0"/>
          </a:p>
        </p:txBody>
      </p:sp>
      <p:sp>
        <p:nvSpPr>
          <p:cNvPr id="11" name="Text 9"/>
          <p:cNvSpPr/>
          <p:nvPr/>
        </p:nvSpPr>
        <p:spPr>
          <a:xfrm>
            <a:off x="594360" y="4041648"/>
            <a:ext cx="7955280" cy="640080"/>
          </a:xfrm>
          <a:prstGeom prst="rect">
            <a:avLst/>
          </a:prstGeom>
          <a:noFill/>
          <a:ln/>
        </p:spPr>
        <p:txBody>
          <a:bodyPr wrap="square" lIns="0" tIns="0" rIns="0" bIns="0" rtlCol="0" anchor="ctr"/>
          <a:lstStyle/>
          <a:p>
            <a:pPr indent="0" marL="0">
              <a:buNone/>
            </a:pPr>
            <a:r>
              <a:rPr lang="en-US" sz="1000" dirty="0">
                <a:solidFill>
                  <a:srgbClr val="1E2761"/>
                </a:solidFill>
                <a:latin typeface="Calibri" pitchFamily="34" charset="0"/>
                <a:ea typeface="Calibri" pitchFamily="34" charset="-122"/>
                <a:cs typeface="Calibri" pitchFamily="34" charset="-120"/>
              </a:rPr>
              <a:t>[1] Lewis et al., “Retrieval-Augmented Generation for Knowledge-Intensive NLP,” NeurIPS 2020.</a:t>
            </a:r>
            <a:endParaRPr lang="en-US" sz="1000" dirty="0"/>
          </a:p>
          <a:p>
            <a:pPr indent="0" marL="0">
              <a:buNone/>
            </a:pPr>
            <a:r>
              <a:rPr lang="en-US" sz="1000" dirty="0">
                <a:solidFill>
                  <a:srgbClr val="1E2761"/>
                </a:solidFill>
                <a:latin typeface="Calibri" pitchFamily="34" charset="0"/>
                <a:ea typeface="Calibri" pitchFamily="34" charset="-122"/>
                <a:cs typeface="Calibri" pitchFamily="34" charset="-120"/>
              </a:rPr>
              <a:t>[2] Lugaresi et al., “MediaPipe: A Framework for Building Perception Pipelines,” arXiv 2019.</a:t>
            </a:r>
            <a:endParaRPr lang="en-US" sz="1000" dirty="0"/>
          </a:p>
          <a:p>
            <a:pPr indent="0" marL="0">
              <a:buNone/>
            </a:pPr>
            <a:r>
              <a:rPr lang="en-US" sz="1000" dirty="0">
                <a:solidFill>
                  <a:srgbClr val="1E2761"/>
                </a:solidFill>
                <a:latin typeface="Calibri" pitchFamily="34" charset="0"/>
                <a:ea typeface="Calibri" pitchFamily="34" charset="-122"/>
                <a:cs typeface="Calibri" pitchFamily="34" charset="-120"/>
              </a:rPr>
              <a:t>[3] Touvron et al., “LLaMA: Open and Efficient Foundation Language Models,” 2023.</a:t>
            </a:r>
            <a:endParaRPr lang="en-US" sz="1000" dirty="0"/>
          </a:p>
        </p:txBody>
      </p:sp>
      <p:sp>
        <p:nvSpPr>
          <p:cNvPr id="12" name="Shape 10"/>
          <p:cNvSpPr/>
          <p:nvPr/>
        </p:nvSpPr>
        <p:spPr>
          <a:xfrm>
            <a:off x="0" y="4937760"/>
            <a:ext cx="9144000" cy="27432"/>
          </a:xfrm>
          <a:prstGeom prst="rect">
            <a:avLst/>
          </a:prstGeom>
          <a:solidFill>
            <a:srgbClr val="CFD4E6"/>
          </a:solidFill>
          <a:ln w="12700">
            <a:solidFill>
              <a:srgbClr val="CFD4E6"/>
            </a:solidFill>
            <a:prstDash val="solid"/>
          </a:ln>
        </p:spPr>
      </p:sp>
      <p:sp>
        <p:nvSpPr>
          <p:cNvPr id="13" name="Text 11"/>
          <p:cNvSpPr/>
          <p:nvPr/>
        </p:nvSpPr>
        <p:spPr>
          <a:xfrm>
            <a:off x="457200" y="4965192"/>
            <a:ext cx="6400800" cy="182880"/>
          </a:xfrm>
          <a:prstGeom prst="rect">
            <a:avLst/>
          </a:prstGeom>
          <a:noFill/>
          <a:ln/>
        </p:spPr>
        <p:txBody>
          <a:bodyPr wrap="square" lIns="0" tIns="0" rIns="0" bIns="0" rtlCol="0" anchor="ctr"/>
          <a:lstStyle/>
          <a:p>
            <a:pPr indent="0" marL="0">
              <a:buNone/>
            </a:pPr>
            <a:r>
              <a:rPr lang="en-US" sz="900" dirty="0">
                <a:solidFill>
                  <a:srgbClr val="5C6B95"/>
                </a:solidFill>
                <a:latin typeface="Calibri" pitchFamily="34" charset="0"/>
                <a:ea typeface="Calibri" pitchFamily="34" charset="-122"/>
                <a:cs typeface="Calibri" pitchFamily="34" charset="-120"/>
              </a:rPr>
              <a:t>AI Interview Platform · Project Report</a:t>
            </a:r>
            <a:endParaRPr lang="en-US" sz="900" dirty="0"/>
          </a:p>
        </p:txBody>
      </p:sp>
      <p:sp>
        <p:nvSpPr>
          <p:cNvPr id="14" name="Text 12"/>
          <p:cNvSpPr/>
          <p:nvPr/>
        </p:nvSpPr>
        <p:spPr>
          <a:xfrm>
            <a:off x="8412480" y="4965192"/>
            <a:ext cx="365760" cy="182880"/>
          </a:xfrm>
          <a:prstGeom prst="rect">
            <a:avLst/>
          </a:prstGeom>
          <a:noFill/>
          <a:ln/>
        </p:spPr>
        <p:txBody>
          <a:bodyPr wrap="square" lIns="0" tIns="0" rIns="0" bIns="0" rtlCol="0" anchor="ctr"/>
          <a:lstStyle/>
          <a:p>
            <a:pPr algn="r" indent="0" marL="0">
              <a:buNone/>
            </a:pPr>
            <a:r>
              <a:rPr lang="en-US" sz="900" dirty="0">
                <a:solidFill>
                  <a:srgbClr val="5C6B9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Interview Platform — Project Report</dc:title>
  <dc:subject>PptxGenJS Presentation</dc:subject>
  <dc:creator>Vivek</dc:creator>
  <cp:lastModifiedBy>Vivek</cp:lastModifiedBy>
  <cp:revision>1</cp:revision>
  <dcterms:created xsi:type="dcterms:W3CDTF">2026-04-11T13:39:48Z</dcterms:created>
  <dcterms:modified xsi:type="dcterms:W3CDTF">2026-04-11T13:39:48Z</dcterms:modified>
</cp:coreProperties>
</file>